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63" r:id="rId4"/>
    <p:sldId id="258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93F12-658F-6A4A-836D-983A901383F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47F8F-829B-774E-8392-083F5651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61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D3F3A4C9-EE37-7E03-FFA1-BEEBFFC4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>
            <a:extLst>
              <a:ext uri="{FF2B5EF4-FFF2-40B4-BE49-F238E27FC236}">
                <a16:creationId xmlns:a16="http://schemas.microsoft.com/office/drawing/2014/main" id="{654FFFE1-DADC-3199-4857-0C45C3772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>
            <a:extLst>
              <a:ext uri="{FF2B5EF4-FFF2-40B4-BE49-F238E27FC236}">
                <a16:creationId xmlns:a16="http://schemas.microsoft.com/office/drawing/2014/main" id="{791FB576-0932-C68A-8A12-695222FF0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:notes">
            <a:extLst>
              <a:ext uri="{FF2B5EF4-FFF2-40B4-BE49-F238E27FC236}">
                <a16:creationId xmlns:a16="http://schemas.microsoft.com/office/drawing/2014/main" id="{2F25389A-CF43-88A2-A7D5-204307368A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465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6F0B-F63A-FD04-2AF6-0BF93857F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53617-A0C6-4264-EA4C-445D12A2A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DFC1-4DB5-0763-BDC1-7F934634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C3EDD-1EA6-B6CE-A1AC-E0398AAF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E0EE6-C562-801C-B91B-264FB21B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8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330C-75F7-3F3B-C2FC-62A2B9DF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ED35-DED9-C528-8890-1B59043D5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BDB21-004B-06CA-AFC7-64CAA25D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6BFB5-F049-60F4-D89F-01B4AF0A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64C7E-4FD5-0817-E142-4E968B73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55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E514C-A0E1-3F84-48A3-900BAA6E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0FCDC-C3E1-C37D-756E-EFC3B3B0C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ECA3B-5B61-9327-FF8A-8F8656351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57BC-055C-8002-8254-61B83813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9F01-168D-B54D-C3C3-23B3BA0D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4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0CAF-0FD2-1F6C-6C16-F6D2AF49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EAD71-7723-A148-A1EC-E2A11E8AB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BD45E-2C1C-1C72-49A4-697D68956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5CF03-B22A-E2B6-714E-B99C0E91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6EC06-39DE-D659-0231-27893150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CF004-DD72-EB38-CFBF-021ED0B5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DB47-783C-AE3D-C29A-A42D3A5D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DCC5-C59D-91E9-12D7-17DDEFE49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687EB-DB0B-05E4-DCB4-6FF24BC29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27881-6391-0166-70CB-BE665F07D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AA402-E116-A7A6-351C-A64A1B5A3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C8FA8-871E-B146-3E9D-319762CC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AAD6F6-81F5-75E9-5D7D-DF33ED2F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AC834-62EF-F86D-6C87-6FC8B871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4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8A69-D281-FFDB-3E56-29E0BBEA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54025-67CF-C9F5-9137-7892FCA6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147B0-473F-F0A3-88A7-A1D8C3E4A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F67D2-4B72-8BA6-5153-34A2B417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3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7B42D-6A99-2E91-314C-62EBF7C7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CC3F3-3F91-8116-3113-7DA7E88A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BE680-C8CD-3360-1E7B-0BEC27D1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2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C63F-19D2-066D-1BBE-5A905407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7EF30-7C78-85C4-321F-8B3823A3B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EB830-1943-11EA-0F15-4246E60E7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BA289-6731-E95C-EBB1-001A8CB8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D2C56-1D79-08FE-B02F-7168AF5F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177E0-CD9F-A580-5BB1-45E9DE30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4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B392-35FA-1819-4F1F-E9CB82EE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24A817-CA74-E97F-AA44-28A68C85B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E6257-3E71-28BD-F6EA-53C27CB42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33C4B-2CE5-081B-7037-09C9992C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4ABC0-0318-2B18-7BFB-005B5C6A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23B26-C052-4338-0E75-6A2AD77E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4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01AE-D38A-485E-A038-5B6E23676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CADAB-7F6C-8B45-BAB1-FD20C89E9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0210-9586-909F-AADF-8774B014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46998-BE10-6DA5-5380-06524CD6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E28D4-1879-44C2-00D3-C8AA1C03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2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D811B-6E40-3C00-B05C-9E42DA8A7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3275E-C012-F55C-196E-47F33503B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EF5DA-A802-4D30-F66F-7CD0D201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457D-4B95-1AD5-A249-E8C4E9C1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0A1F3-2543-766F-2105-FAAD0083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41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01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6F62E-4AFF-B4B1-B63E-CA449415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D938E-EB69-BA57-EABA-2ABC884C6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63375-226F-AFC6-D0B7-4378AD453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0306B-F39E-4342-9B0F-4BF22EAF02E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B3F72-2FE2-2A67-64B3-7F38267AC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E99EB-6AEF-88A1-6AC7-F108A4ED5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1135A-0084-1740-AD05-9FD9E2EE2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5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"/>
          <p:cNvCxnSpPr/>
          <p:nvPr/>
        </p:nvCxnSpPr>
        <p:spPr>
          <a:xfrm>
            <a:off x="3048000" y="2194560"/>
            <a:ext cx="97536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3;p1"/>
          <p:cNvCxnSpPr/>
          <p:nvPr/>
        </p:nvCxnSpPr>
        <p:spPr>
          <a:xfrm>
            <a:off x="3048000" y="2194560"/>
            <a:ext cx="0" cy="97536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4;p1"/>
          <p:cNvCxnSpPr/>
          <p:nvPr/>
        </p:nvCxnSpPr>
        <p:spPr>
          <a:xfrm>
            <a:off x="8168640" y="4632960"/>
            <a:ext cx="97536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5;p1"/>
          <p:cNvCxnSpPr/>
          <p:nvPr/>
        </p:nvCxnSpPr>
        <p:spPr>
          <a:xfrm>
            <a:off x="9144000" y="3657600"/>
            <a:ext cx="0" cy="97536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"/>
          <p:cNvSpPr/>
          <p:nvPr/>
        </p:nvSpPr>
        <p:spPr>
          <a:xfrm>
            <a:off x="1219200" y="2438400"/>
            <a:ext cx="9753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sz="72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AI Wars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853440" y="365760"/>
            <a:ext cx="1036320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4800"/>
            </a:pPr>
            <a:r>
              <a:rPr lang="en-US" sz="64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Who Are the Key Players?</a:t>
            </a:r>
            <a:endParaRPr sz="6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4"/>
          <p:cNvCxnSpPr>
            <a:cxnSpLocks/>
          </p:cNvCxnSpPr>
          <p:nvPr/>
        </p:nvCxnSpPr>
        <p:spPr>
          <a:xfrm>
            <a:off x="853440" y="1402080"/>
            <a:ext cx="625244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53440" y="1706880"/>
            <a:ext cx="104851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4472C4"/>
              </a:buClr>
              <a:buSzPts val="1800"/>
            </a:pPr>
            <a:r>
              <a:rPr lang="en-US" sz="24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are their strengths and weaknesses here?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D1A7ECB-21D1-D57B-2307-295E0B0D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>
            <a:extLst>
              <a:ext uri="{FF2B5EF4-FFF2-40B4-BE49-F238E27FC236}">
                <a16:creationId xmlns:a16="http://schemas.microsoft.com/office/drawing/2014/main" id="{C40C7293-BF72-98C5-DAFB-66A782FBC1C0}"/>
              </a:ext>
            </a:extLst>
          </p:cNvPr>
          <p:cNvSpPr/>
          <p:nvPr/>
        </p:nvSpPr>
        <p:spPr>
          <a:xfrm>
            <a:off x="853440" y="365760"/>
            <a:ext cx="1036320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4800"/>
            </a:pPr>
            <a:r>
              <a:rPr lang="en-US" sz="64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Google’s Hesitation?</a:t>
            </a:r>
            <a:endParaRPr sz="6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4">
            <a:extLst>
              <a:ext uri="{FF2B5EF4-FFF2-40B4-BE49-F238E27FC236}">
                <a16:creationId xmlns:a16="http://schemas.microsoft.com/office/drawing/2014/main" id="{39BFE2EE-6AB3-C15E-ED5C-B2053014828F}"/>
              </a:ext>
            </a:extLst>
          </p:cNvPr>
          <p:cNvCxnSpPr/>
          <p:nvPr/>
        </p:nvCxnSpPr>
        <p:spPr>
          <a:xfrm>
            <a:off x="853440" y="1402080"/>
            <a:ext cx="243840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>
            <a:extLst>
              <a:ext uri="{FF2B5EF4-FFF2-40B4-BE49-F238E27FC236}">
                <a16:creationId xmlns:a16="http://schemas.microsoft.com/office/drawing/2014/main" id="{03B1657B-20E0-6532-B57F-B3011749FF4A}"/>
              </a:ext>
            </a:extLst>
          </p:cNvPr>
          <p:cNvSpPr/>
          <p:nvPr/>
        </p:nvSpPr>
        <p:spPr>
          <a:xfrm>
            <a:off x="853440" y="1706880"/>
            <a:ext cx="104851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4472C4"/>
              </a:buClr>
              <a:buSzPts val="1800"/>
            </a:pPr>
            <a:r>
              <a:rPr lang="en-US" sz="2400" b="1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Why did Google hesitate to launch a commercial LLM product?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36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853440" y="365760"/>
            <a:ext cx="1036320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4800"/>
            </a:pPr>
            <a:r>
              <a:rPr lang="en-US" sz="64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AI Value Chain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2"/>
          <p:cNvCxnSpPr/>
          <p:nvPr/>
        </p:nvCxnSpPr>
        <p:spPr>
          <a:xfrm>
            <a:off x="853440" y="1402080"/>
            <a:ext cx="243840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2"/>
          <p:cNvSpPr/>
          <p:nvPr/>
        </p:nvSpPr>
        <p:spPr>
          <a:xfrm>
            <a:off x="853440" y="1706880"/>
            <a:ext cx="58337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4472C4"/>
              </a:buClr>
              <a:buSzPts val="1800"/>
            </a:pPr>
            <a:r>
              <a:rPr lang="en-US" sz="24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Where do costs come from in developing AI Products?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4;p2">
            <a:extLst>
              <a:ext uri="{FF2B5EF4-FFF2-40B4-BE49-F238E27FC236}">
                <a16:creationId xmlns:a16="http://schemas.microsoft.com/office/drawing/2014/main" id="{8A761217-253F-B603-113E-C0D3228F53BA}"/>
              </a:ext>
            </a:extLst>
          </p:cNvPr>
          <p:cNvSpPr/>
          <p:nvPr/>
        </p:nvSpPr>
        <p:spPr>
          <a:xfrm>
            <a:off x="853440" y="4041903"/>
            <a:ext cx="966766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4472C4"/>
              </a:buClr>
              <a:buSzPts val="1800"/>
            </a:pPr>
            <a:r>
              <a:rPr lang="en-US" sz="24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are the primary ways to monetize ‘AI Products’?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Cost-Benefit Analysis: The Complete Guide | monday.com Blog">
            <a:extLst>
              <a:ext uri="{FF2B5EF4-FFF2-40B4-BE49-F238E27FC236}">
                <a16:creationId xmlns:a16="http://schemas.microsoft.com/office/drawing/2014/main" id="{F176A67F-6184-DC92-E071-9E9869AC8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890" y="1007407"/>
            <a:ext cx="4658831" cy="2329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853440" y="365760"/>
            <a:ext cx="1036320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4800"/>
            </a:pPr>
            <a:r>
              <a:rPr lang="en-US" sz="64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Closed vs. Open Source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5"/>
          <p:cNvCxnSpPr>
            <a:cxnSpLocks/>
          </p:cNvCxnSpPr>
          <p:nvPr/>
        </p:nvCxnSpPr>
        <p:spPr>
          <a:xfrm>
            <a:off x="853440" y="1402080"/>
            <a:ext cx="5822782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5"/>
          <p:cNvSpPr/>
          <p:nvPr/>
        </p:nvSpPr>
        <p:spPr>
          <a:xfrm>
            <a:off x="853440" y="1706880"/>
            <a:ext cx="104851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Why do companies pursue closed- source (vs. open-source) strategies with large foundation models?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The foundation model divide: Mapping the future of open vs. closed AI  development - CB Insights Research">
            <a:extLst>
              <a:ext uri="{FF2B5EF4-FFF2-40B4-BE49-F238E27FC236}">
                <a16:creationId xmlns:a16="http://schemas.microsoft.com/office/drawing/2014/main" id="{652D2F36-E515-DE96-F951-FEF2EA365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91" y="2910840"/>
            <a:ext cx="4887913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853440" y="365760"/>
            <a:ext cx="1036320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4800"/>
            </a:pPr>
            <a:r>
              <a:rPr lang="en-US" sz="64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Quantization &amp; Distillation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3"/>
          <p:cNvCxnSpPr/>
          <p:nvPr/>
        </p:nvCxnSpPr>
        <p:spPr>
          <a:xfrm>
            <a:off x="853440" y="1402080"/>
            <a:ext cx="243840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3"/>
          <p:cNvSpPr/>
          <p:nvPr/>
        </p:nvSpPr>
        <p:spPr>
          <a:xfrm>
            <a:off x="853440" y="1706880"/>
            <a:ext cx="104851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is the value of these techniques?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93</Words>
  <Application>Microsoft Macintosh PowerPoint</Application>
  <PresentationFormat>Widescreen</PresentationFormat>
  <Paragraphs>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Economica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Burtch, Gordon</dc:creator>
  <cp:lastModifiedBy>Burtch, Gordon</cp:lastModifiedBy>
  <cp:revision>4</cp:revision>
  <dcterms:created xsi:type="dcterms:W3CDTF">2026-04-03T18:44:22Z</dcterms:created>
  <dcterms:modified xsi:type="dcterms:W3CDTF">2026-04-19T20:46:12Z</dcterms:modified>
</cp:coreProperties>
</file>