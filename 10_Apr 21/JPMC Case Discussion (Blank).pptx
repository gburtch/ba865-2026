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9144000" cy="5143500" type="screen16x9"/>
  <p:notesSz cx="5143500" cy="9144000"/>
  <p:embeddedFontLst>
    <p:embeddedFont>
      <p:font typeface="Economica" panose="02000506040000020004" pitchFamily="2" charset="77"/>
      <p:regular r:id="rId13"/>
      <p:bold r:id="rId14"/>
      <p:italic r:id="rId15"/>
      <p:boldItalic r:id="rId16"/>
    </p:embeddedFont>
    <p:embeddedFont>
      <p:font typeface="Quicksand" pitchFamily="2" charset="77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eAOacHqWZJfdDhJcvymYKIKzr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icksand"/>
              <a:buNone/>
            </a:pPr>
            <a:r>
              <a:rPr lang="en-US" sz="12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Humans grow complacent quickly — need incentive structures for verification… no incentive to pay attention if the model is correct 99% of the time. Res[onsibility and ownership for errors is an issue… this is a company system, so the company is partly at fault.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03EA93F5-DBF8-1F44-7BF9-491729F4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>
            <a:extLst>
              <a:ext uri="{FF2B5EF4-FFF2-40B4-BE49-F238E27FC236}">
                <a16:creationId xmlns:a16="http://schemas.microsoft.com/office/drawing/2014/main" id="{75DAA195-09F5-4A35-5304-A8C48FE02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6:notes">
            <a:extLst>
              <a:ext uri="{FF2B5EF4-FFF2-40B4-BE49-F238E27FC236}">
                <a16:creationId xmlns:a16="http://schemas.microsoft.com/office/drawing/2014/main" id="{EC5FEFC4-75D5-133A-17A9-BC51910E5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:notes">
            <a:extLst>
              <a:ext uri="{FF2B5EF4-FFF2-40B4-BE49-F238E27FC236}">
                <a16:creationId xmlns:a16="http://schemas.microsoft.com/office/drawing/2014/main" id="{956DA056-30F5-01A7-1E57-08986D587C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2854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6"/>
          <p:cNvCxnSpPr/>
          <p:nvPr/>
        </p:nvCxnSpPr>
        <p:spPr>
          <a:xfrm>
            <a:off x="1828800" y="1645920"/>
            <a:ext cx="73152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6"/>
          <p:cNvCxnSpPr/>
          <p:nvPr/>
        </p:nvCxnSpPr>
        <p:spPr>
          <a:xfrm>
            <a:off x="1828800" y="1645920"/>
            <a:ext cx="0" cy="73152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6"/>
          <p:cNvCxnSpPr/>
          <p:nvPr/>
        </p:nvCxnSpPr>
        <p:spPr>
          <a:xfrm>
            <a:off x="6583680" y="3474720"/>
            <a:ext cx="73152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6"/>
          <p:cNvCxnSpPr/>
          <p:nvPr/>
        </p:nvCxnSpPr>
        <p:spPr>
          <a:xfrm>
            <a:off x="7315200" y="2743200"/>
            <a:ext cx="0" cy="73152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6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Economica"/>
              <a:buNone/>
            </a:pPr>
            <a:r>
              <a:rPr lang="en-US" sz="54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JPMorgan Chase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7"/>
          <p:cNvCxnSpPr/>
          <p:nvPr/>
        </p:nvCxnSpPr>
        <p:spPr>
          <a:xfrm>
            <a:off x="640080" y="1051560"/>
            <a:ext cx="182880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7"/>
          <p:cNvSpPr/>
          <p:nvPr/>
        </p:nvSpPr>
        <p:spPr>
          <a:xfrm>
            <a:off x="301337" y="1497257"/>
            <a:ext cx="3780212" cy="221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icksand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Community &amp; Client Banking (CCB) — retail banking.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icksand"/>
              <a:buChar char="•"/>
            </a:pPr>
            <a:r>
              <a:rPr lang="en-US" sz="16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Commercial &amp; Investment Banking (CIB) — corporations, governments, institutional investors.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Quicksand"/>
              <a:buChar char="•"/>
            </a:pPr>
            <a:r>
              <a:rPr lang="en-US" sz="16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Asset &amp; Wealth Management (AWM) — includes Asset </a:t>
            </a:r>
            <a:r>
              <a:rPr lang="en-US" sz="1600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Mgmt</a:t>
            </a:r>
            <a:r>
              <a:rPr lang="en-US" sz="16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and Private Banking.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739832" y="3966182"/>
            <a:ext cx="3458095" cy="83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Quicksand"/>
              <a:buNone/>
            </a:pPr>
            <a:r>
              <a:rPr lang="en-US" sz="1400" i="1" dirty="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Lori Beer (CIO), </a:t>
            </a:r>
            <a:br>
              <a:rPr lang="en-US" sz="1400" i="1" dirty="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en-US" sz="1400" i="1" dirty="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Teresa </a:t>
            </a:r>
            <a:r>
              <a:rPr lang="en-US" sz="1400" i="1" dirty="0" err="1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Heitsenrether</a:t>
            </a:r>
            <a:r>
              <a:rPr lang="en-US" sz="1400" i="1" dirty="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(CDAO), </a:t>
            </a:r>
            <a:br>
              <a:rPr lang="en-US" sz="1400" i="1" dirty="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en-US" sz="1400" i="1" dirty="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Mary </a:t>
            </a:r>
            <a:r>
              <a:rPr lang="en-US" sz="1400" i="1" dirty="0" err="1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Erdoes</a:t>
            </a:r>
            <a:r>
              <a:rPr lang="en-US" sz="1400" i="1" dirty="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(CEO of AWM)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Search Jobs - JPMC Candidate Experience page Careers">
            <a:extLst>
              <a:ext uri="{FF2B5EF4-FFF2-40B4-BE49-F238E27FC236}">
                <a16:creationId xmlns:a16="http://schemas.microsoft.com/office/drawing/2014/main" id="{81085473-045C-6624-F153-4C936D091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10" b="35095"/>
          <a:stretch>
            <a:fillRect/>
          </a:stretch>
        </p:blipFill>
        <p:spPr bwMode="auto">
          <a:xfrm>
            <a:off x="0" y="330431"/>
            <a:ext cx="3416531" cy="55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E8E24E-CC98-D81B-F39B-3C65904D42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85"/>
          <a:stretch>
            <a:fillRect/>
          </a:stretch>
        </p:blipFill>
        <p:spPr>
          <a:xfrm>
            <a:off x="4341321" y="1593249"/>
            <a:ext cx="4501342" cy="33310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C1ED8A-5179-993C-D7D5-B57B160C9D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396"/>
          <a:stretch>
            <a:fillRect/>
          </a:stretch>
        </p:blipFill>
        <p:spPr>
          <a:xfrm>
            <a:off x="5926974" y="219223"/>
            <a:ext cx="1240673" cy="12780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Economica"/>
              <a:buNone/>
            </a:pPr>
            <a:r>
              <a:rPr lang="en-US" sz="4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JPMC’s Governance Journey</a:t>
            </a:r>
            <a:endParaRPr sz="4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8"/>
          <p:cNvCxnSpPr>
            <a:cxnSpLocks/>
          </p:cNvCxnSpPr>
          <p:nvPr/>
        </p:nvCxnSpPr>
        <p:spPr>
          <a:xfrm>
            <a:off x="640080" y="1051560"/>
            <a:ext cx="5178829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8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Quicksand"/>
              <a:buNone/>
            </a:pPr>
            <a:r>
              <a:rPr lang="en-US" sz="1800" b="1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has JPMC’s GenAI experience been?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28,300+ Journey Path Stock Illustrations, Royalty-Free Vector Graphics &amp;  Clip Art - iStock | Vector journey path, Journey path drawing, Journey path  vector">
            <a:extLst>
              <a:ext uri="{FF2B5EF4-FFF2-40B4-BE49-F238E27FC236}">
                <a16:creationId xmlns:a16="http://schemas.microsoft.com/office/drawing/2014/main" id="{6BDEE408-35FE-C0A1-7265-56E22EB7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72" y="1604355"/>
            <a:ext cx="3013728" cy="2412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Economica"/>
              <a:buNone/>
            </a:pPr>
            <a:r>
              <a:rPr lang="en-US" sz="4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Why Don’t Bans Don’t Work?</a:t>
            </a:r>
            <a:endParaRPr sz="4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9"/>
          <p:cNvCxnSpPr>
            <a:cxnSpLocks/>
          </p:cNvCxnSpPr>
          <p:nvPr/>
        </p:nvCxnSpPr>
        <p:spPr>
          <a:xfrm>
            <a:off x="640080" y="1051560"/>
            <a:ext cx="5370022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9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Quicksand"/>
              <a:buNone/>
            </a:pPr>
            <a: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would be better?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Does Your District Ban ChatGPT? Here's What Educators Told Us">
            <a:extLst>
              <a:ext uri="{FF2B5EF4-FFF2-40B4-BE49-F238E27FC236}">
                <a16:creationId xmlns:a16="http://schemas.microsoft.com/office/drawing/2014/main" id="{C1869E0D-9644-7638-B8AF-58E851EED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551" y="2152995"/>
            <a:ext cx="3108695" cy="2109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Economica"/>
              <a:buNone/>
            </a:pPr>
            <a:r>
              <a:rPr lang="en-US" sz="4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Complementary Assets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0"/>
          <p:cNvCxnSpPr/>
          <p:nvPr/>
        </p:nvCxnSpPr>
        <p:spPr>
          <a:xfrm>
            <a:off x="640080" y="1051560"/>
            <a:ext cx="182880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10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Quicksand"/>
              <a:buNone/>
            </a:pPr>
            <a: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How do you provide a ‘better’ solution than vanilla ChatGPT?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7AA1B-7CAF-1CCF-53A7-3E1B59DF443C}"/>
              </a:ext>
            </a:extLst>
          </p:cNvPr>
          <p:cNvSpPr txBox="1"/>
          <p:nvPr/>
        </p:nvSpPr>
        <p:spPr>
          <a:xfrm>
            <a:off x="581890" y="3308363"/>
            <a:ext cx="4838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Importance of Avoiding Lock-in (for now)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Economica"/>
              <a:buNone/>
            </a:pPr>
            <a:r>
              <a:rPr lang="en-US" sz="4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‘Good’ vs. ‘Bad’ Use Cases</a:t>
            </a:r>
            <a:endParaRPr sz="4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1"/>
          <p:cNvCxnSpPr>
            <a:cxnSpLocks/>
          </p:cNvCxnSpPr>
          <p:nvPr/>
        </p:nvCxnSpPr>
        <p:spPr>
          <a:xfrm>
            <a:off x="640080" y="1051560"/>
            <a:ext cx="4854633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1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Quicksand"/>
              <a:buNone/>
            </a:pPr>
            <a: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Key GenAI applications at JPMC: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731520" y="351454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Quicksand"/>
              <a:buNone/>
            </a:pPr>
            <a: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are the common features of these use cases? </a:t>
            </a:r>
            <a:b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Would a ‘data science for all’ agent be a good idea?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Economica"/>
              <a:buNone/>
            </a:pPr>
            <a:r>
              <a:rPr lang="en-US" sz="4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Risk Management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2"/>
          <p:cNvCxnSpPr/>
          <p:nvPr/>
        </p:nvCxnSpPr>
        <p:spPr>
          <a:xfrm>
            <a:off x="640080" y="1051560"/>
            <a:ext cx="1828800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C4FBE18-13D2-6F29-9F17-6CDDAC7BD918}"/>
              </a:ext>
            </a:extLst>
          </p:cNvPr>
          <p:cNvSpPr txBox="1"/>
          <p:nvPr/>
        </p:nvSpPr>
        <p:spPr>
          <a:xfrm>
            <a:off x="760271" y="2233196"/>
            <a:ext cx="75320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600"/>
            </a:pPr>
            <a:r>
              <a:rPr lang="en-US" sz="16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How did JPMC ‘Govern’ New Use Cases / Deployments of Gen AI?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1C053-02E2-1E9E-8EC2-795D7317B4CC}"/>
              </a:ext>
            </a:extLst>
          </p:cNvPr>
          <p:cNvSpPr txBox="1"/>
          <p:nvPr/>
        </p:nvSpPr>
        <p:spPr>
          <a:xfrm>
            <a:off x="760270" y="4096286"/>
            <a:ext cx="75320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00"/>
              </a:spcBef>
              <a:buSzPts val="1600"/>
            </a:pPr>
            <a:r>
              <a:rPr lang="en-US" sz="16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Do You See Deeper Problems with ‘Over-reliance’ on LLMs / Agents?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CFD4-E57D-553E-7F88-01BC0EDA7B65}"/>
              </a:ext>
            </a:extLst>
          </p:cNvPr>
          <p:cNvSpPr txBox="1"/>
          <p:nvPr/>
        </p:nvSpPr>
        <p:spPr>
          <a:xfrm>
            <a:off x="822960" y="139446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600"/>
            </a:pPr>
            <a:r>
              <a:rPr lang="en-US" sz="16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is a High-Risk Use Case Here?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Economica"/>
              <a:buNone/>
            </a:pPr>
            <a:r>
              <a:rPr lang="en-US" sz="4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People Management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3"/>
          <p:cNvCxnSpPr>
            <a:cxnSpLocks/>
          </p:cNvCxnSpPr>
          <p:nvPr/>
        </p:nvCxnSpPr>
        <p:spPr>
          <a:xfrm>
            <a:off x="640080" y="1051560"/>
            <a:ext cx="3857105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13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Quicksand"/>
              <a:buNone/>
            </a:pPr>
            <a:r>
              <a:rPr lang="en-US" sz="1800" b="1" dirty="0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What are social/people risks and how do we overcome them?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Economica"/>
              <a:buNone/>
            </a:pPr>
            <a:r>
              <a:rPr lang="en-US" sz="4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What is Sufficient Performance?</a:t>
            </a:r>
            <a:endParaRPr sz="4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4"/>
          <p:cNvCxnSpPr>
            <a:cxnSpLocks/>
          </p:cNvCxnSpPr>
          <p:nvPr/>
        </p:nvCxnSpPr>
        <p:spPr>
          <a:xfrm>
            <a:off x="640080" y="1051560"/>
            <a:ext cx="6018415" cy="0"/>
          </a:xfrm>
          <a:prstGeom prst="straightConnector1">
            <a:avLst/>
          </a:prstGeom>
          <a:noFill/>
          <a:ln w="3810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14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Quicksand"/>
              <a:buNone/>
            </a:pPr>
            <a:r>
              <a:rPr lang="en-US" sz="1800" b="1">
                <a:solidFill>
                  <a:srgbClr val="4472C4"/>
                </a:solidFill>
                <a:latin typeface="Quicksand"/>
                <a:ea typeface="Quicksand"/>
                <a:cs typeface="Quicksand"/>
                <a:sym typeface="Quicksand"/>
              </a:rPr>
              <a:t>PlanningGPT had 90-96% accuracy. Is that tolerable?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What Is Benchmarking? Types, Benefits, and Practical Use Cases">
            <a:extLst>
              <a:ext uri="{FF2B5EF4-FFF2-40B4-BE49-F238E27FC236}">
                <a16:creationId xmlns:a16="http://schemas.microsoft.com/office/drawing/2014/main" id="{F170F1FC-55B8-A6B3-53C0-4E2CDB390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19556" r="24001" b="20444"/>
          <a:stretch>
            <a:fillRect/>
          </a:stretch>
        </p:blipFill>
        <p:spPr bwMode="auto">
          <a:xfrm>
            <a:off x="4738255" y="2011680"/>
            <a:ext cx="3840480" cy="249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44CCEC2-2300-6777-D3F4-C40860D22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>
            <a:extLst>
              <a:ext uri="{FF2B5EF4-FFF2-40B4-BE49-F238E27FC236}">
                <a16:creationId xmlns:a16="http://schemas.microsoft.com/office/drawing/2014/main" id="{30F4C6D7-5FE2-C4B6-FB17-6813281CC761}"/>
              </a:ext>
            </a:extLst>
          </p:cNvPr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Economica"/>
              <a:buNone/>
            </a:pPr>
            <a:r>
              <a:rPr lang="en-US" sz="54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Questions?</a:t>
            </a:r>
            <a:endParaRPr sz="5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149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280</Words>
  <Application>Microsoft Macintosh PowerPoint</Application>
  <PresentationFormat>On-screen Show (16:9)</PresentationFormat>
  <Paragraphs>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Economica</vt:lpstr>
      <vt:lpstr>Quicksand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Gordon Burtch</dc:creator>
  <cp:lastModifiedBy>Burtch, Gordon</cp:lastModifiedBy>
  <cp:revision>4</cp:revision>
  <cp:lastPrinted>2026-04-12T14:40:44Z</cp:lastPrinted>
  <dcterms:created xsi:type="dcterms:W3CDTF">2026-03-24T11:02:32Z</dcterms:created>
  <dcterms:modified xsi:type="dcterms:W3CDTF">2026-04-12T14:42:47Z</dcterms:modified>
</cp:coreProperties>
</file>