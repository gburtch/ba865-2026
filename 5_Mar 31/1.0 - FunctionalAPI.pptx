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369" r:id="rId3"/>
    <p:sldId id="401" r:id="rId4"/>
    <p:sldId id="402" r:id="rId5"/>
    <p:sldId id="403" r:id="rId6"/>
    <p:sldId id="404" r:id="rId7"/>
    <p:sldId id="405" r:id="rId8"/>
    <p:sldId id="406" r:id="rId9"/>
    <p:sldId id="407" r:id="rId10"/>
    <p:sldId id="408" r:id="rId11"/>
    <p:sldId id="409" r:id="rId12"/>
    <p:sldId id="411" r:id="rId13"/>
    <p:sldId id="415" r:id="rId14"/>
    <p:sldId id="416" r:id="rId15"/>
    <p:sldId id="41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F7"/>
    <a:srgbClr val="FBFBFB"/>
    <a:srgbClr val="FDFDFD"/>
    <a:srgbClr val="F9F9F9"/>
    <a:srgbClr val="F1F5F9"/>
    <a:srgbClr val="F2F5FA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6712"/>
  </p:normalViewPr>
  <p:slideViewPr>
    <p:cSldViewPr snapToGrid="0" snapToObjects="1">
      <p:cViewPr varScale="1">
        <p:scale>
          <a:sx n="105" d="100"/>
          <a:sy n="105" d="100"/>
        </p:scale>
        <p:origin x="12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A659FB-0419-C24D-A6C0-9A1B475B1E65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07AF2C-A832-324A-A13C-3791A9476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8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Weights are not initialized until you “build” the model (or compile it, which will </a:t>
            </a:r>
            <a:r>
              <a:rPr lang="en-US"/>
              <a:t>first build).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7AF2C-A832-324A-A13C-3791A947647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601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Weights are not initialized until you “build” the model (or compile it, which will </a:t>
            </a:r>
            <a:r>
              <a:rPr lang="en-US"/>
              <a:t>first build).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7AF2C-A832-324A-A13C-3791A947647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26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Weights are not initialized until you “build” the model (or compile it, which will </a:t>
            </a:r>
            <a:r>
              <a:rPr lang="en-US"/>
              <a:t>first build).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7AF2C-A832-324A-A13C-3791A947647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96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Weights are not initialized until you “build” the model (or compile it, which will </a:t>
            </a:r>
            <a:r>
              <a:rPr lang="en-US"/>
              <a:t>first build).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7AF2C-A832-324A-A13C-3791A947647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283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Weights are not initialized until you “build” the model (or compile it, which will </a:t>
            </a:r>
            <a:r>
              <a:rPr lang="en-US"/>
              <a:t>first build).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7AF2C-A832-324A-A13C-3791A947647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6693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Weights are not initialized until you “build” the model (or compile it, which will </a:t>
            </a:r>
            <a:r>
              <a:rPr lang="en-US"/>
              <a:t>first build).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7AF2C-A832-324A-A13C-3791A947647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90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Weights are not initialized until you “build” the model (or compile it, which will </a:t>
            </a:r>
            <a:r>
              <a:rPr lang="en-US"/>
              <a:t>first build).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7AF2C-A832-324A-A13C-3791A947647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6400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Weights are not initialized until you “build” the model (or compile it, which will </a:t>
            </a:r>
            <a:r>
              <a:rPr lang="en-US"/>
              <a:t>first build).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7AF2C-A832-324A-A13C-3791A947647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002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58EB1-4315-0B45-BC48-6834F7A49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293AC9-FE44-6D4E-9E9B-DFF2BAE10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15C1-30B0-FC43-A054-A32361208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92BD1-5BF6-D549-B796-A6913C4E0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5BDAF-76E7-5E4A-80A9-F732B06DC7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916AB2-FE7E-054B-A1E4-563D250382B5}"/>
              </a:ext>
            </a:extLst>
          </p:cNvPr>
          <p:cNvSpPr txBox="1"/>
          <p:nvPr userDrawn="1"/>
        </p:nvSpPr>
        <p:spPr>
          <a:xfrm>
            <a:off x="168440" y="6349018"/>
            <a:ext cx="1695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Economica" panose="02000506040000020004" pitchFamily="2" charset="77"/>
              </a:rPr>
              <a:t>© Gordon Burtch, 2026</a:t>
            </a:r>
          </a:p>
        </p:txBody>
      </p:sp>
    </p:spTree>
    <p:extLst>
      <p:ext uri="{BB962C8B-B14F-4D97-AF65-F5344CB8AC3E}">
        <p14:creationId xmlns:p14="http://schemas.microsoft.com/office/powerpoint/2010/main" val="1779990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A3E46-908A-C04D-9981-8A3084417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089C4-435B-C74A-A233-FC3069A07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4D541-FAFD-8942-86AB-278DC2D9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1F70-41C7-F44D-9284-EB301E270CC7}" type="datetime1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AA10F-22F0-3349-A613-9AAA7D618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9A220-6975-B245-BB1A-A220197A1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5BDAF-76E7-5E4A-80A9-F732B06DC7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6162B0-E279-9541-8146-AD5BCEB90953}"/>
              </a:ext>
            </a:extLst>
          </p:cNvPr>
          <p:cNvSpPr txBox="1"/>
          <p:nvPr userDrawn="1"/>
        </p:nvSpPr>
        <p:spPr>
          <a:xfrm>
            <a:off x="168440" y="6349018"/>
            <a:ext cx="1695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Economica" panose="02000506040000020004" pitchFamily="2" charset="77"/>
              </a:rPr>
              <a:t>© Gordon Burtch, 2026</a:t>
            </a:r>
          </a:p>
        </p:txBody>
      </p:sp>
    </p:spTree>
    <p:extLst>
      <p:ext uri="{BB962C8B-B14F-4D97-AF65-F5344CB8AC3E}">
        <p14:creationId xmlns:p14="http://schemas.microsoft.com/office/powerpoint/2010/main" val="2142451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12A2A-922B-0346-B7EA-75D7B10DC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5D8E8-28AA-D948-A636-339D3F2A0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2ABFB-F394-B943-9456-37EA53A89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F645A-02C2-AF41-9FDB-389E34E8B990}" type="datetime1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C9EEB-C178-3D4E-B208-AD5046C8D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21868-B995-9742-85D5-45B98C9EC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5BDAF-76E7-5E4A-80A9-F732B06DC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174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E34BF-EFF7-0C4A-ACC3-61E8A7BF3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8BC29-A056-D841-BF2D-AB3FD80A8A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E858A7-1C7A-AA45-BB8D-392648E63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9F041C-0C80-0748-B32E-22CF1B3DB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73A4C-DE8A-2F49-8ABE-1735EE515528}" type="datetime1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22579-B479-A844-9E52-D5FD9A1E4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4C21B5-4359-4543-8FF3-3066A40C3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5BDAF-76E7-5E4A-80A9-F732B06DC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917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A9874-FD7D-2A4D-AEBD-677AE09D7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1CEBE-0E6C-7047-9C5C-4AA0A105D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5909BD-DF02-CD4C-90A2-920DE5C2A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726810-D033-9F43-B547-D777D29089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C29DDC-1456-3643-A06F-B75412DAAE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18370D-F984-7247-A9DD-3EA91612D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13BA6-E929-9643-AF0C-C0B90BC6EAC0}" type="datetime1">
              <a:rPr lang="en-US" smtClean="0"/>
              <a:t>3/27/26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DE8A36-46FF-5F4B-BFC9-260F45EE2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285DF5-2269-4B42-8F8D-D3D350784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5BDAF-76E7-5E4A-80A9-F732B06DC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633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87EAE-0662-C14D-8647-164620F73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31AD01-E0D8-DA48-8558-4DB1DF379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2371E-C5A0-7448-8CF8-A797D242C61D}" type="datetime1">
              <a:rPr lang="en-US" smtClean="0"/>
              <a:t>3/27/26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B3CB74-66EB-2E41-B429-DD059CC53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22CEDC-6830-A146-947E-074B58A70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5BDAF-76E7-5E4A-80A9-F732B06DC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21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E33039-B3F1-E74E-A3E9-B768C3091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9D714-59A4-C649-915B-E960BF4AC878}" type="datetime1">
              <a:rPr lang="en-US" smtClean="0"/>
              <a:t>3/27/26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780AF2-CA80-244F-BE35-6B5FF47AE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DB4EA-64DE-0D4F-BE60-622C9072E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5BDAF-76E7-5E4A-80A9-F732B06DC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15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9A010-AEC3-5D4B-8BA4-6DB5AA5C0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50F6E-166D-394A-A4DF-0BF69EE7C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0294C6-7668-514F-9ADF-59DD93528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F1B62-A79B-4F4F-9C11-251DDA4B1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1679C-160D-1F41-A3C3-54837256FB50}" type="datetime1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9C6139-119E-1243-8678-0D6DECFEE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D2BB8-C6D1-F34F-9734-96F70F3DB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5BDAF-76E7-5E4A-80A9-F732B06DC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938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D4A61-1A2E-434A-9278-ACDA96E69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67D8D5-8B98-684D-9163-2D5DEB3D11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EBCCB4-2032-5B45-999F-A768925041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26A2A-6E59-394B-803A-59F39958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5A14-0E14-114B-AA5F-546D4BF7B2DC}" type="datetime1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1C336-1AE0-7045-BDF2-568A43D36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F2202E-F342-6842-99C7-956BB873C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5BDAF-76E7-5E4A-80A9-F732B06DC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318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97417-9B7B-844A-B49C-CAAA2D59A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D692F6-A4DE-C74C-8AE6-7C38A4A471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ACD1C-1D19-5349-999A-B14395D03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F797-6DFD-C74C-BA29-8B3CE1E6C725}" type="datetime1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BBDE9-A684-5A47-B60C-F69910631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FE0AE-B20F-8B41-96B0-E5CBBC790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5BDAF-76E7-5E4A-80A9-F732B06DC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049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A52D7A-39F3-0646-84E5-8D5969D778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ED3037-E8B5-F145-8A69-D2D1C03A0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82DFD-5D33-5144-BAFE-C0E9C267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E1960-B74B-0949-9DEF-CBE661CB7825}" type="datetime1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AE351-4EF4-7F46-A9EB-2ED377652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4C3F3-83CA-0A4C-9768-CBD10E30D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5BDAF-76E7-5E4A-80A9-F732B06DC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448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042191-EF6B-3343-99DF-6B82683DE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3975D-F94C-154E-84C0-8D927243E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62666-B677-AB4B-8949-CF467A4BA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5E9CF-B19A-3C42-99C1-DBC4AFBA0816}" type="datetime1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21357-DB2A-EA44-A099-F307BF6C72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3B370-F7FF-B042-B96A-54615DF18D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85BDAF-76E7-5E4A-80A9-F732B06DC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881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C3165B02-2A88-DE4B-AC06-284B72A4B57B}"/>
              </a:ext>
            </a:extLst>
          </p:cNvPr>
          <p:cNvGrpSpPr/>
          <p:nvPr/>
        </p:nvGrpSpPr>
        <p:grpSpPr>
          <a:xfrm>
            <a:off x="2865521" y="1385048"/>
            <a:ext cx="6460957" cy="1657524"/>
            <a:chOff x="2971800" y="2588206"/>
            <a:chExt cx="6460957" cy="165752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E4ACB90-5B23-AE45-9404-FED4FB5128EF}"/>
                </a:ext>
              </a:extLst>
            </p:cNvPr>
            <p:cNvSpPr txBox="1"/>
            <p:nvPr/>
          </p:nvSpPr>
          <p:spPr>
            <a:xfrm>
              <a:off x="2971800" y="2828835"/>
              <a:ext cx="64609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200" dirty="0">
                  <a:latin typeface="Economica" panose="02000506040000020004" pitchFamily="2" charset="77"/>
                </a:rPr>
                <a:t>Functional API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F485ADF-3A53-0F48-9D99-408DA599988A}"/>
                </a:ext>
              </a:extLst>
            </p:cNvPr>
            <p:cNvGrpSpPr/>
            <p:nvPr/>
          </p:nvGrpSpPr>
          <p:grpSpPr>
            <a:xfrm>
              <a:off x="3164307" y="2588206"/>
              <a:ext cx="1213182" cy="661736"/>
              <a:chOff x="3132555" y="2419542"/>
              <a:chExt cx="1651279" cy="1070810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5E04A1CC-3A4A-E24E-AD6A-0C37C23D32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2555" y="2419542"/>
                <a:ext cx="1651279" cy="0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1A87476A-5402-4B48-A8D1-6B591EC025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32555" y="2419542"/>
                <a:ext cx="0" cy="1070810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57DA1FF-C51C-A44C-9239-89948FF3CEE3}"/>
                </a:ext>
              </a:extLst>
            </p:cNvPr>
            <p:cNvGrpSpPr/>
            <p:nvPr/>
          </p:nvGrpSpPr>
          <p:grpSpPr>
            <a:xfrm rot="10800000">
              <a:off x="8071184" y="3583994"/>
              <a:ext cx="1092868" cy="661736"/>
              <a:chOff x="3269088" y="2458482"/>
              <a:chExt cx="1388919" cy="1070810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93994943-A3ED-A942-B61B-40FE6939ABF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3269088" y="2458484"/>
                <a:ext cx="1388919" cy="0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9BEB4C39-2C94-F74D-8598-5A09DB056D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69088" y="2458482"/>
                <a:ext cx="0" cy="1070810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888926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4ACB90-5B23-AE45-9404-FED4FB5128EF}"/>
              </a:ext>
            </a:extLst>
          </p:cNvPr>
          <p:cNvSpPr txBox="1"/>
          <p:nvPr/>
        </p:nvSpPr>
        <p:spPr>
          <a:xfrm>
            <a:off x="2865521" y="586938"/>
            <a:ext cx="64609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Economica" panose="02000506040000020004" pitchFamily="2" charset="77"/>
              </a:rPr>
              <a:t>Quick Explanation / Syntax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B2E298-9F21-FF4E-96E1-1B758B6D7AC7}"/>
              </a:ext>
            </a:extLst>
          </p:cNvPr>
          <p:cNvSpPr txBox="1"/>
          <p:nvPr/>
        </p:nvSpPr>
        <p:spPr>
          <a:xfrm>
            <a:off x="890337" y="1940249"/>
            <a:ext cx="1001636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Quicksand" pitchFamily="2" charset="77"/>
              </a:rPr>
              <a:t>Functional vs. Sequential API (vs. Subclassing)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Quicksand" pitchFamily="2" charset="77"/>
              </a:rPr>
              <a:t>Creating </a:t>
            </a:r>
            <a:r>
              <a:rPr lang="en-US" dirty="0" err="1">
                <a:latin typeface="Quicksand" pitchFamily="2" charset="77"/>
              </a:rPr>
              <a:t>Keras</a:t>
            </a:r>
            <a:r>
              <a:rPr lang="en-US" dirty="0">
                <a:latin typeface="Quicksand" pitchFamily="2" charset="77"/>
              </a:rPr>
              <a:t> models with the Sequential class vs. the Functional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Quicksand" pitchFamily="2" charset="77"/>
              </a:rPr>
              <a:t>Custom Loss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Quicksand" pitchFamily="2" charset="77"/>
              </a:rPr>
              <a:t>Using </a:t>
            </a:r>
            <a:r>
              <a:rPr lang="en-US" dirty="0" err="1">
                <a:latin typeface="Quicksand" pitchFamily="2" charset="77"/>
              </a:rPr>
              <a:t>TensorBoard</a:t>
            </a:r>
            <a:r>
              <a:rPr lang="en-US" dirty="0">
                <a:latin typeface="Quicksand" pitchFamily="2" charset="77"/>
              </a:rPr>
              <a:t> to monitor training and evaluation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Quicksand" pitchFamily="2" charset="77"/>
              </a:rPr>
              <a:t>Writing training and evaluation loops from scratch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F238DCB-39E2-2D48-844E-7C0E426146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3541"/>
          <a:stretch>
            <a:fillRect/>
          </a:stretch>
        </p:blipFill>
        <p:spPr bwMode="auto">
          <a:xfrm>
            <a:off x="3796569" y="3878335"/>
            <a:ext cx="4203897" cy="2484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8758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4ACB90-5B23-AE45-9404-FED4FB5128EF}"/>
              </a:ext>
            </a:extLst>
          </p:cNvPr>
          <p:cNvSpPr txBox="1"/>
          <p:nvPr/>
        </p:nvSpPr>
        <p:spPr>
          <a:xfrm>
            <a:off x="2865521" y="586938"/>
            <a:ext cx="64609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Economica" panose="02000506040000020004" pitchFamily="2" charset="77"/>
              </a:rPr>
              <a:t>Alternative Options /w </a:t>
            </a:r>
            <a:r>
              <a:rPr lang="en-US" sz="5400" dirty="0" err="1">
                <a:latin typeface="Economica" panose="02000506040000020004" pitchFamily="2" charset="77"/>
              </a:rPr>
              <a:t>Keras</a:t>
            </a:r>
            <a:endParaRPr lang="en-US" sz="5400" dirty="0">
              <a:latin typeface="Economica" panose="02000506040000020004" pitchFamily="2" charset="7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3A49B7-4371-A144-9800-F2221D404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50" y="2159000"/>
            <a:ext cx="10502900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0404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4ACB90-5B23-AE45-9404-FED4FB5128EF}"/>
              </a:ext>
            </a:extLst>
          </p:cNvPr>
          <p:cNvSpPr txBox="1"/>
          <p:nvPr/>
        </p:nvSpPr>
        <p:spPr>
          <a:xfrm>
            <a:off x="1973087" y="613091"/>
            <a:ext cx="82458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Economica" panose="02000506040000020004" pitchFamily="2" charset="77"/>
              </a:rPr>
              <a:t>Define Architecture via Sequential API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0E656D-E890-5648-8377-308EA43DB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584" y="2076729"/>
            <a:ext cx="5445071" cy="21479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24E9CD-6E34-DA49-8635-72738B7B8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672" y="5365636"/>
            <a:ext cx="5922894" cy="8205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8BBDCB-45B4-B341-9CB1-0739C47B6974}"/>
              </a:ext>
            </a:extLst>
          </p:cNvPr>
          <p:cNvSpPr txBox="1"/>
          <p:nvPr/>
        </p:nvSpPr>
        <p:spPr>
          <a:xfrm>
            <a:off x="3239043" y="4685130"/>
            <a:ext cx="5713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Economica" panose="02000506040000020004" pitchFamily="2" charset="77"/>
              </a:rPr>
              <a:t>Same Thing, but Adding Layers Dynamically</a:t>
            </a:r>
          </a:p>
        </p:txBody>
      </p:sp>
    </p:spTree>
    <p:extLst>
      <p:ext uri="{BB962C8B-B14F-4D97-AF65-F5344CB8AC3E}">
        <p14:creationId xmlns:p14="http://schemas.microsoft.com/office/powerpoint/2010/main" val="3030124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4ACB90-5B23-AE45-9404-FED4FB5128EF}"/>
              </a:ext>
            </a:extLst>
          </p:cNvPr>
          <p:cNvSpPr txBox="1"/>
          <p:nvPr/>
        </p:nvSpPr>
        <p:spPr>
          <a:xfrm>
            <a:off x="519545" y="586938"/>
            <a:ext cx="112949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Economica" panose="02000506040000020004" pitchFamily="2" charset="77"/>
              </a:rPr>
              <a:t>Sequential Model Initialization and Input Shape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98E6C9-7865-F242-9ACF-80707BE42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270" y="1875120"/>
            <a:ext cx="8647458" cy="9644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665ECB-F7C8-0D4B-9C0A-4D0F67C01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270" y="4982879"/>
            <a:ext cx="5840968" cy="11852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A38C76-5DF8-F040-AB12-DDE0D2664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2270" y="3048121"/>
            <a:ext cx="7534413" cy="172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388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4ACB90-5B23-AE45-9404-FED4FB5128EF}"/>
              </a:ext>
            </a:extLst>
          </p:cNvPr>
          <p:cNvSpPr txBox="1"/>
          <p:nvPr/>
        </p:nvSpPr>
        <p:spPr>
          <a:xfrm>
            <a:off x="2865521" y="586938"/>
            <a:ext cx="64609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Economica" panose="02000506040000020004" pitchFamily="2" charset="77"/>
              </a:rPr>
              <a:t>Summary Function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397E87-DC70-4B4A-B246-32B205D61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756" y="1986793"/>
            <a:ext cx="8203942" cy="357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205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91E6873-60F7-674E-A74A-617C0A361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049" y="3686646"/>
            <a:ext cx="8597900" cy="1714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551E66-55B9-124A-AEBC-215AC372E481}"/>
              </a:ext>
            </a:extLst>
          </p:cNvPr>
          <p:cNvSpPr txBox="1"/>
          <p:nvPr/>
        </p:nvSpPr>
        <p:spPr>
          <a:xfrm>
            <a:off x="890337" y="1940249"/>
            <a:ext cx="1001636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Quicksand" pitchFamily="2" charset="77"/>
              </a:rPr>
              <a:t>Define Each Layer and its Linkages (If Any)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Quicksand" pitchFamily="2" charset="77"/>
              </a:rPr>
              <a:t>When you specify a given layer, you state what input it takes (if any).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Quicksand" pitchFamily="2" charset="77"/>
              </a:rPr>
              <a:t>This lets you build more complicated topologies (e.g., branches, multi-outputs, letting earlier layers feed into later layers in the network, and so on.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490E15-48E3-F34B-8CB6-F623908AA6AD}"/>
              </a:ext>
            </a:extLst>
          </p:cNvPr>
          <p:cNvSpPr txBox="1"/>
          <p:nvPr/>
        </p:nvSpPr>
        <p:spPr>
          <a:xfrm>
            <a:off x="1973087" y="613091"/>
            <a:ext cx="82458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Economica" panose="02000506040000020004" pitchFamily="2" charset="77"/>
              </a:rPr>
              <a:t>Define Architecture via Functional API</a:t>
            </a:r>
          </a:p>
        </p:txBody>
      </p:sp>
    </p:spTree>
    <p:extLst>
      <p:ext uri="{BB962C8B-B14F-4D97-AF65-F5344CB8AC3E}">
        <p14:creationId xmlns:p14="http://schemas.microsoft.com/office/powerpoint/2010/main" val="2157842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4ACB90-5B23-AE45-9404-FED4FB5128EF}"/>
              </a:ext>
            </a:extLst>
          </p:cNvPr>
          <p:cNvSpPr txBox="1"/>
          <p:nvPr/>
        </p:nvSpPr>
        <p:spPr>
          <a:xfrm>
            <a:off x="889036" y="553433"/>
            <a:ext cx="101911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Economica" panose="02000506040000020004" pitchFamily="2" charset="77"/>
              </a:rPr>
              <a:t>Functional API Enables Complex Architectures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B2370B-7F1E-1644-BBFA-5F975CBEB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249" y="2916379"/>
            <a:ext cx="7937500" cy="39370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53F0548F-E803-4149-856A-54055717D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9939" y="3723861"/>
            <a:ext cx="4172121" cy="2679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3DE762-ED3C-8E4A-9E15-0195CD596E30}"/>
              </a:ext>
            </a:extLst>
          </p:cNvPr>
          <p:cNvSpPr txBox="1"/>
          <p:nvPr/>
        </p:nvSpPr>
        <p:spPr>
          <a:xfrm>
            <a:off x="889036" y="1890545"/>
            <a:ext cx="100163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Quicksand" pitchFamily="2" charset="77"/>
              </a:rPr>
              <a:t>We Can Define a Multi-Input (Branches) to Multi-Output (Labels) Topology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Quicksand" pitchFamily="2" charset="77"/>
              </a:rPr>
              <a:t>This because useful for multi-modal data, or for introducing feedback loops, etc. into the network.</a:t>
            </a:r>
          </a:p>
        </p:txBody>
      </p:sp>
    </p:spTree>
    <p:extLst>
      <p:ext uri="{BB962C8B-B14F-4D97-AF65-F5344CB8AC3E}">
        <p14:creationId xmlns:p14="http://schemas.microsoft.com/office/powerpoint/2010/main" val="1685328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63DE762-ED3C-8E4A-9E15-0195CD596E30}"/>
              </a:ext>
            </a:extLst>
          </p:cNvPr>
          <p:cNvSpPr txBox="1"/>
          <p:nvPr/>
        </p:nvSpPr>
        <p:spPr>
          <a:xfrm>
            <a:off x="889036" y="1784529"/>
            <a:ext cx="1001636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Quicksand" pitchFamily="2" charset="77"/>
              </a:rPr>
              <a:t>We Can Define a Multi-Input (Branches) to Multi-Output (Labels) Topology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Quicksand" pitchFamily="2" charset="77"/>
              </a:rPr>
              <a:t>This is useful for multi-modal data, residual links, or feedback loops, etc.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B135C6-4FDD-B542-AF2D-49678D400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639" y="2684443"/>
            <a:ext cx="7567133" cy="35733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56045F-7B27-8CE9-A852-132F0F1E8FD6}"/>
              </a:ext>
            </a:extLst>
          </p:cNvPr>
          <p:cNvSpPr txBox="1"/>
          <p:nvPr/>
        </p:nvSpPr>
        <p:spPr>
          <a:xfrm>
            <a:off x="889036" y="553433"/>
            <a:ext cx="101911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Economica" panose="02000506040000020004" pitchFamily="2" charset="77"/>
              </a:rPr>
              <a:t>Functional API Enables Complex Architectures</a:t>
            </a:r>
          </a:p>
        </p:txBody>
      </p:sp>
    </p:spTree>
    <p:extLst>
      <p:ext uri="{BB962C8B-B14F-4D97-AF65-F5344CB8AC3E}">
        <p14:creationId xmlns:p14="http://schemas.microsoft.com/office/powerpoint/2010/main" val="2767503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4ACB90-5B23-AE45-9404-FED4FB5128EF}"/>
              </a:ext>
            </a:extLst>
          </p:cNvPr>
          <p:cNvSpPr txBox="1"/>
          <p:nvPr/>
        </p:nvSpPr>
        <p:spPr>
          <a:xfrm>
            <a:off x="685240" y="548440"/>
            <a:ext cx="10821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Economica" panose="02000506040000020004" pitchFamily="2" charset="77"/>
              </a:rPr>
              <a:t>Training With Multiple Input / Output Layers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3DE762-ED3C-8E4A-9E15-0195CD596E30}"/>
              </a:ext>
            </a:extLst>
          </p:cNvPr>
          <p:cNvSpPr txBox="1"/>
          <p:nvPr/>
        </p:nvSpPr>
        <p:spPr>
          <a:xfrm>
            <a:off x="889035" y="1784529"/>
            <a:ext cx="1043705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Quicksand" pitchFamily="2" charset="77"/>
              </a:rPr>
              <a:t>Pass Lists of Input / Output Arrays, and Specify Lists of Loss Functions /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Quicksand" pitchFamily="2" charset="77"/>
              </a:rPr>
              <a:t>We need to pass in a list of arrays addressing all inputs</a:t>
            </a:r>
            <a:r>
              <a:rPr lang="en-US" dirty="0">
                <a:latin typeface="Quicksand" pitchFamily="2" charset="77"/>
              </a:rPr>
              <a:t>, </a:t>
            </a:r>
            <a:r>
              <a:rPr lang="en-US" dirty="0">
                <a:solidFill>
                  <a:schemeClr val="accent1"/>
                </a:solidFill>
                <a:latin typeface="Quicksand" pitchFamily="2" charset="77"/>
              </a:rPr>
              <a:t>as well as a list of labels for all outputs</a:t>
            </a:r>
            <a:r>
              <a:rPr lang="en-US" dirty="0">
                <a:latin typeface="Quicksand" pitchFamily="2" charset="7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Quicksand" pitchFamily="2" charset="77"/>
              </a:rPr>
              <a:t>We can also provide a list of loss functions and metrics, one of each for each output label.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7412B0-884A-2A45-8532-399D8A8A4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183" y="3124185"/>
            <a:ext cx="6298648" cy="3570169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DF53C2F4-4AA6-C747-AB2B-5ACFC80F6389}"/>
              </a:ext>
            </a:extLst>
          </p:cNvPr>
          <p:cNvSpPr/>
          <p:nvPr/>
        </p:nvSpPr>
        <p:spPr>
          <a:xfrm>
            <a:off x="2296833" y="3908744"/>
            <a:ext cx="7134844" cy="7500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B90797E-6E14-0C46-8746-2586E2A2BA42}"/>
              </a:ext>
            </a:extLst>
          </p:cNvPr>
          <p:cNvSpPr/>
          <p:nvPr/>
        </p:nvSpPr>
        <p:spPr>
          <a:xfrm>
            <a:off x="2296833" y="4534262"/>
            <a:ext cx="7291096" cy="571994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227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2CE494-7BF1-2D40-BFC5-B2E5558CD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349" y="2848052"/>
            <a:ext cx="7923302" cy="32168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992786-FA07-014E-900B-3DBD4BC05EAC}"/>
              </a:ext>
            </a:extLst>
          </p:cNvPr>
          <p:cNvSpPr txBox="1"/>
          <p:nvPr/>
        </p:nvSpPr>
        <p:spPr>
          <a:xfrm>
            <a:off x="889036" y="1784529"/>
            <a:ext cx="100163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Quicksand" pitchFamily="2" charset="77"/>
              </a:rPr>
              <a:t>Pass Lists of Input Arrays, and Specify Lists of Loss Functions /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dictionaries rather than argument positional indexing (you are less likely to make a mistake this way!)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7C71AC-6B5A-F8AF-A251-33257105FA32}"/>
              </a:ext>
            </a:extLst>
          </p:cNvPr>
          <p:cNvSpPr txBox="1"/>
          <p:nvPr/>
        </p:nvSpPr>
        <p:spPr>
          <a:xfrm>
            <a:off x="685240" y="548440"/>
            <a:ext cx="10821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Economica" panose="02000506040000020004" pitchFamily="2" charset="77"/>
              </a:rPr>
              <a:t>Training With Multiple Input / Output Layers</a:t>
            </a:r>
          </a:p>
        </p:txBody>
      </p:sp>
    </p:spTree>
    <p:extLst>
      <p:ext uri="{BB962C8B-B14F-4D97-AF65-F5344CB8AC3E}">
        <p14:creationId xmlns:p14="http://schemas.microsoft.com/office/powerpoint/2010/main" val="3215511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4ACB90-5B23-AE45-9404-FED4FB5128EF}"/>
              </a:ext>
            </a:extLst>
          </p:cNvPr>
          <p:cNvSpPr txBox="1"/>
          <p:nvPr/>
        </p:nvSpPr>
        <p:spPr>
          <a:xfrm>
            <a:off x="1551838" y="597212"/>
            <a:ext cx="8690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Economica" panose="02000506040000020004" pitchFamily="2" charset="77"/>
              </a:rPr>
              <a:t>Define and Use Custom Loss Functions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992786-FA07-014E-900B-3DBD4BC05EAC}"/>
              </a:ext>
            </a:extLst>
          </p:cNvPr>
          <p:cNvSpPr txBox="1"/>
          <p:nvPr/>
        </p:nvSpPr>
        <p:spPr>
          <a:xfrm>
            <a:off x="889036" y="1784529"/>
            <a:ext cx="10016362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Quicksand" pitchFamily="2" charset="77"/>
              </a:rPr>
              <a:t>We Can Write a Custom Loss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Quicksand" pitchFamily="2" charset="77"/>
              </a:rPr>
              <a:t>Many application-specific situations where we might want a custom metric (or loss function).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Quicksand" pitchFamily="2" charset="77"/>
              </a:rPr>
              <a:t>One example I will show you is image-sharpening – MSE or MAE are okay, but there are better metrics for image-wide alignment of pixel values.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2000" b="1" dirty="0">
                <a:latin typeface="Quicksand" pitchFamily="2" charset="77"/>
              </a:rPr>
              <a:t>Function That Accepts Predicted and Actual as Input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8849FF-BA17-4445-B53C-6C0E66E64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00" y="4056651"/>
            <a:ext cx="6350000" cy="176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750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4ACB90-5B23-AE45-9404-FED4FB5128EF}"/>
              </a:ext>
            </a:extLst>
          </p:cNvPr>
          <p:cNvSpPr txBox="1"/>
          <p:nvPr/>
        </p:nvSpPr>
        <p:spPr>
          <a:xfrm>
            <a:off x="779317" y="597212"/>
            <a:ext cx="105467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Economica" panose="02000506040000020004" pitchFamily="2" charset="77"/>
              </a:rPr>
              <a:t>‘Callbacks’ in Training, e.g., Early Stopping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992786-FA07-014E-900B-3DBD4BC05EAC}"/>
              </a:ext>
            </a:extLst>
          </p:cNvPr>
          <p:cNvSpPr txBox="1"/>
          <p:nvPr/>
        </p:nvSpPr>
        <p:spPr>
          <a:xfrm>
            <a:off x="889036" y="1784529"/>
            <a:ext cx="1001636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Quicksand" pitchFamily="2" charset="77"/>
              </a:rPr>
              <a:t>We Can Enforce Some Rules During Fitting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Quicksand" pitchFamily="2" charset="77"/>
              </a:rPr>
              <a:t>For example, we can tell the fit method to stop the training process early based on &lt; threshold improvements in our objective function. </a:t>
            </a:r>
            <a:endParaRPr lang="en-US" sz="2000" b="1" dirty="0">
              <a:latin typeface="Quicksand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BB0ABB-AD5B-574C-8C8F-0A6AF2CF3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955" y="3048957"/>
            <a:ext cx="4605962" cy="329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548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4ACB90-5B23-AE45-9404-FED4FB5128EF}"/>
              </a:ext>
            </a:extLst>
          </p:cNvPr>
          <p:cNvSpPr txBox="1"/>
          <p:nvPr/>
        </p:nvSpPr>
        <p:spPr>
          <a:xfrm>
            <a:off x="1551838" y="597212"/>
            <a:ext cx="8690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Economica" panose="02000506040000020004" pitchFamily="2" charset="77"/>
              </a:rPr>
              <a:t>Save / Load a Pre-Trained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992786-FA07-014E-900B-3DBD4BC05EAC}"/>
              </a:ext>
            </a:extLst>
          </p:cNvPr>
          <p:cNvSpPr txBox="1"/>
          <p:nvPr/>
        </p:nvSpPr>
        <p:spPr>
          <a:xfrm>
            <a:off x="889036" y="1940279"/>
            <a:ext cx="1001636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Quicksand" pitchFamily="2" charset="77"/>
              </a:rPr>
              <a:t>We Can Save and Re-load Models with Trained Weights for Later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Quicksand" pitchFamily="2" charset="77"/>
              </a:rPr>
              <a:t>This enables transfer learning, picking up where we left off…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Quicksand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Quicksand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Quicksand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Quicksand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Quicksand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Quicksand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Quicksand" pitchFamily="2" charset="77"/>
              </a:rPr>
              <a:t>We might load an old model, extract the first 5 layers, and then stack new layers on the end.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Quicksand" pitchFamily="2" charset="77"/>
              </a:rPr>
              <a:t>We might also fix the old model’s layers as non-trainable (‘calibrate’ a new model ‘end’ on top of the pre-trained model).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Quicksand" pitchFamily="2" charset="77"/>
              </a:rPr>
              <a:t>More on this shortly…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855F93-DD02-BE4A-A3B2-03FD99EA4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544" y="3111350"/>
            <a:ext cx="6600912" cy="63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195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4ACB90-5B23-AE45-9404-FED4FB5128EF}"/>
              </a:ext>
            </a:extLst>
          </p:cNvPr>
          <p:cNvSpPr txBox="1"/>
          <p:nvPr/>
        </p:nvSpPr>
        <p:spPr>
          <a:xfrm>
            <a:off x="1750621" y="2828835"/>
            <a:ext cx="86907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Economica" panose="02000506040000020004" pitchFamily="2" charset="77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554479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12631</TotalTime>
  <Words>682</Words>
  <Application>Microsoft Macintosh PowerPoint</Application>
  <PresentationFormat>Widescreen</PresentationFormat>
  <Paragraphs>69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Economica</vt:lpstr>
      <vt:lpstr>Quicksand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Gordon Burtch</dc:creator>
  <cp:lastModifiedBy>Burtch, Gordon</cp:lastModifiedBy>
  <cp:revision>102</cp:revision>
  <cp:lastPrinted>2020-10-20T21:27:15Z</cp:lastPrinted>
  <dcterms:created xsi:type="dcterms:W3CDTF">2019-12-28T13:51:56Z</dcterms:created>
  <dcterms:modified xsi:type="dcterms:W3CDTF">2026-03-27T12:30:59Z</dcterms:modified>
</cp:coreProperties>
</file>