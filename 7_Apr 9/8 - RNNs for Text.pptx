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8"/>
  </p:notesMasterIdLst>
  <p:sldIdLst>
    <p:sldId id="256" r:id="rId2"/>
    <p:sldId id="258" r:id="rId3"/>
    <p:sldId id="259" r:id="rId4"/>
    <p:sldId id="260" r:id="rId5"/>
    <p:sldId id="261" r:id="rId6"/>
    <p:sldId id="280" r:id="rId7"/>
    <p:sldId id="276" r:id="rId8"/>
    <p:sldId id="277" r:id="rId9"/>
    <p:sldId id="283" r:id="rId10"/>
    <p:sldId id="300" r:id="rId11"/>
    <p:sldId id="301" r:id="rId12"/>
    <p:sldId id="302" r:id="rId13"/>
    <p:sldId id="263" r:id="rId14"/>
    <p:sldId id="265" r:id="rId15"/>
    <p:sldId id="279" r:id="rId16"/>
    <p:sldId id="268" r:id="rId17"/>
    <p:sldId id="269" r:id="rId18"/>
    <p:sldId id="282" r:id="rId19"/>
    <p:sldId id="264" r:id="rId20"/>
    <p:sldId id="266" r:id="rId21"/>
    <p:sldId id="267" r:id="rId22"/>
    <p:sldId id="292" r:id="rId23"/>
    <p:sldId id="299" r:id="rId24"/>
    <p:sldId id="273" r:id="rId25"/>
    <p:sldId id="274" r:id="rId26"/>
    <p:sldId id="275" r:id="rId27"/>
  </p:sldIdLst>
  <p:sldSz cx="12192000" cy="6858000"/>
  <p:notesSz cx="6858000" cy="9144000"/>
  <p:embeddedFontLst>
    <p:embeddedFont>
      <p:font typeface="Consolas" panose="020B0609020204030204" pitchFamily="49" charset="0"/>
      <p:regular r:id="rId29"/>
      <p:bold r:id="rId30"/>
      <p:italic r:id="rId31"/>
      <p:boldItalic r:id="rId32"/>
    </p:embeddedFont>
    <p:embeddedFont>
      <p:font typeface="Economica" panose="02000506040000020004" pitchFamily="2" charset="77"/>
      <p:regular r:id="rId33"/>
      <p:bold r:id="rId34"/>
      <p:italic r:id="rId35"/>
      <p:boldItalic r:id="rId36"/>
    </p:embeddedFont>
    <p:embeddedFont>
      <p:font typeface="Quicksand" pitchFamily="2" charset="77"/>
      <p:regular r:id="rId37"/>
      <p:bold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1" roundtripDataSignature="AMtx7mhCtrfbZFXRrmv5GpDwfTHlXuLhr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02372D1-F9C1-48B9-90D7-9A1CC5A1757B}">
  <a:tblStyle styleId="{602372D1-F9C1-48B9-90D7-9A1CC5A1757B}"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2192"/>
  </p:normalViewPr>
  <p:slideViewPr>
    <p:cSldViewPr snapToGrid="0">
      <p:cViewPr varScale="1">
        <p:scale>
          <a:sx n="99" d="100"/>
          <a:sy n="99" d="100"/>
        </p:scale>
        <p:origin x="1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 name="Google Shape;11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All text vect</a:t>
            </a:r>
            <a:r>
              <a:rPr lang="en-US" b="1"/>
              <a:t>orization techniques generally work the same way. </a:t>
            </a:r>
            <a:endParaRPr/>
          </a:p>
          <a:p>
            <a:pPr marL="0" lvl="0" indent="0" algn="l" rtl="0">
              <a:lnSpc>
                <a:spcPct val="100000"/>
              </a:lnSpc>
              <a:spcBef>
                <a:spcPts val="0"/>
              </a:spcBef>
              <a:spcAft>
                <a:spcPts val="0"/>
              </a:spcAft>
              <a:buSzPts val="1400"/>
              <a:buNone/>
            </a:pPr>
            <a:endParaRPr b="1"/>
          </a:p>
          <a:p>
            <a:pPr marL="171450" lvl="0" indent="-171450" algn="l" rtl="0">
              <a:lnSpc>
                <a:spcPct val="100000"/>
              </a:lnSpc>
              <a:spcBef>
                <a:spcPts val="0"/>
              </a:spcBef>
              <a:spcAft>
                <a:spcPts val="0"/>
              </a:spcAft>
              <a:buSzPts val="1400"/>
              <a:buFont typeface="Calibri"/>
              <a:buChar char="-"/>
            </a:pPr>
            <a:r>
              <a:rPr lang="en-US" b="1"/>
              <a:t>We throw out words we don’t want, standardize the rest. </a:t>
            </a:r>
            <a:endParaRPr/>
          </a:p>
          <a:p>
            <a:pPr marL="171450" lvl="0" indent="-171450" algn="l" rtl="0">
              <a:lnSpc>
                <a:spcPct val="100000"/>
              </a:lnSpc>
              <a:spcBef>
                <a:spcPts val="0"/>
              </a:spcBef>
              <a:spcAft>
                <a:spcPts val="0"/>
              </a:spcAft>
              <a:buSzPts val="1400"/>
              <a:buFont typeface="Calibri"/>
              <a:buChar char="-"/>
            </a:pPr>
            <a:r>
              <a:rPr lang="en-US" b="1"/>
              <a:t>We then tokenize the text (split into lists of characters, words, or word-groups.</a:t>
            </a:r>
            <a:endParaRPr/>
          </a:p>
          <a:p>
            <a:pPr marL="171450" lvl="0" indent="-171450" algn="l" rtl="0">
              <a:lnSpc>
                <a:spcPct val="100000"/>
              </a:lnSpc>
              <a:spcBef>
                <a:spcPts val="0"/>
              </a:spcBef>
              <a:spcAft>
                <a:spcPts val="0"/>
              </a:spcAft>
              <a:buSzPts val="1400"/>
              <a:buFont typeface="Calibri"/>
              <a:buChar char="-"/>
            </a:pPr>
            <a:r>
              <a:rPr lang="en-US" b="1"/>
              <a:t>We then convert each token into some numeric vector representation (many ways we might do this).</a:t>
            </a:r>
            <a:endParaRPr/>
          </a:p>
        </p:txBody>
      </p:sp>
      <p:sp>
        <p:nvSpPr>
          <p:cNvPr id="128" name="Google Shape;12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Image labeling, image captioning, sentiment analysis, textual translation or audio closed captioning, and, finally, something like video frame labeling</a:t>
            </a:r>
            <a:endParaRPr dirty="0"/>
          </a:p>
        </p:txBody>
      </p:sp>
      <p:sp>
        <p:nvSpPr>
          <p:cNvPr id="128" name="Google Shape;12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A92181CB-86E2-C7AD-C0DD-1AEBAF83FE94}"/>
            </a:ext>
          </a:extLst>
        </p:cNvPr>
        <p:cNvGrpSpPr/>
        <p:nvPr/>
      </p:nvGrpSpPr>
      <p:grpSpPr>
        <a:xfrm>
          <a:off x="0" y="0"/>
          <a:ext cx="0" cy="0"/>
          <a:chOff x="0" y="0"/>
          <a:chExt cx="0" cy="0"/>
        </a:xfrm>
      </p:grpSpPr>
      <p:sp>
        <p:nvSpPr>
          <p:cNvPr id="127" name="Google Shape;127;p6:notes">
            <a:extLst>
              <a:ext uri="{FF2B5EF4-FFF2-40B4-BE49-F238E27FC236}">
                <a16:creationId xmlns:a16="http://schemas.microsoft.com/office/drawing/2014/main" id="{27809074-2671-760A-F65A-171D2A25EAA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6:notes">
            <a:extLst>
              <a:ext uri="{FF2B5EF4-FFF2-40B4-BE49-F238E27FC236}">
                <a16:creationId xmlns:a16="http://schemas.microsoft.com/office/drawing/2014/main" id="{13365A00-7087-D089-3C2A-F99D20D648F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47076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t>
            </a:r>
            <a:r>
              <a:rPr lang="en-US" sz="1200" b="0" i="0" u="none" strike="noStrike" cap="none" dirty="0">
                <a:solidFill>
                  <a:schemeClr val="dk1"/>
                </a:solidFill>
                <a:effectLst/>
                <a:latin typeface="Calibri"/>
                <a:cs typeface="Calibri"/>
                <a:sym typeface="Calibri"/>
              </a:rPr>
              <a:t>w</a:t>
            </a:r>
            <a:r>
              <a:rPr lang="en-US" sz="1200" b="0" i="0" u="none" strike="noStrike" cap="none" dirty="0">
                <a:solidFill>
                  <a:schemeClr val="dk1"/>
                </a:solidFill>
                <a:effectLst/>
                <a:latin typeface="Calibri"/>
                <a:ea typeface="Calibri"/>
                <a:cs typeface="Calibri"/>
                <a:sym typeface="Calibri"/>
              </a:rPr>
              <a:t>hen gradients explode, the parameter updates become enormous. In a single training step, the weights can jump by such a large amount that the loss actually gets </a:t>
            </a:r>
            <a:r>
              <a:rPr lang="en-US" sz="1200" b="0" i="1" u="none" strike="noStrike" cap="none" dirty="0">
                <a:solidFill>
                  <a:schemeClr val="dk1"/>
                </a:solidFill>
                <a:effectLst/>
                <a:latin typeface="Calibri"/>
                <a:ea typeface="Calibri"/>
                <a:cs typeface="Calibri"/>
                <a:sym typeface="Calibri"/>
              </a:rPr>
              <a:t>worse</a:t>
            </a:r>
            <a:r>
              <a:rPr lang="en-US" sz="1200" b="0" i="0" u="none" strike="noStrike" cap="none" dirty="0">
                <a:solidFill>
                  <a:schemeClr val="dk1"/>
                </a:solidFill>
                <a:effectLst/>
                <a:latin typeface="Calibri"/>
                <a:ea typeface="Calibri"/>
                <a:cs typeface="Calibri"/>
                <a:sym typeface="Calibri"/>
              </a:rPr>
              <a:t> instead of better. On the next step, the gradients are even larger (because the weights are now in a bad region), so the update is even more extreme. You get a feedback loop where the loss oscillates wildly or blows up to infinity/</a:t>
            </a:r>
            <a:r>
              <a:rPr lang="en-US" sz="1200" b="0" i="0" u="none" strike="noStrike" cap="none" dirty="0" err="1">
                <a:solidFill>
                  <a:schemeClr val="dk1"/>
                </a:solidFill>
                <a:effectLst/>
                <a:latin typeface="Calibri"/>
                <a:ea typeface="Calibri"/>
                <a:cs typeface="Calibri"/>
                <a:sym typeface="Calibri"/>
              </a:rPr>
              <a:t>NaN</a:t>
            </a:r>
            <a:r>
              <a:rPr lang="en-US" sz="1200" b="0" i="0" u="none" strike="noStrike" cap="none" dirty="0">
                <a:solidFill>
                  <a:schemeClr val="dk1"/>
                </a:solidFill>
                <a:effectLst/>
                <a:latin typeface="Calibri"/>
                <a:ea typeface="Calibri"/>
                <a:cs typeface="Calibri"/>
                <a:sym typeface="Calibri"/>
              </a:rPr>
              <a:t>, and the model never converges. Gradient clipping is used to avoid this problem, but that means you are chopping the gradients off (removing signal), which again makes learning hard, and you’re also not addressing the underlying problem. </a:t>
            </a:r>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155778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We have here a batch of 32 sequences (random values in this case), each is 10 values in length, and each value is an 8-element vector, maybe these are vector embeddings of words, I dunno. We then have 4 LSTM units, each of which will accept the input in parallel. So, each of those 4 LSTM units could be unrolled, and be seen to be taking the 10-vector sequence, separately, and learning something different about the sequence. All 4 produce a single output at the end of processing the sequence, hence why we end up with 4 outputs for the 32 observations (sequences). If we return_sequences=True, it means that every time step spits out an output, in addition to passing that output onward to the next temporal step in the LSTM. So, we end up with 10 outputs from each of the 4 LSTM units, a sequence-to-sequence mapping. </a:t>
            </a:r>
            <a:endParaRPr/>
          </a:p>
        </p:txBody>
      </p:sp>
      <p:sp>
        <p:nvSpPr>
          <p:cNvPr id="158" name="Google Shape;158;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96C22326-4D33-ED1A-6497-D4904AA111C2}"/>
            </a:ext>
          </a:extLst>
        </p:cNvPr>
        <p:cNvGrpSpPr/>
        <p:nvPr/>
      </p:nvGrpSpPr>
      <p:grpSpPr>
        <a:xfrm>
          <a:off x="0" y="0"/>
          <a:ext cx="0" cy="0"/>
          <a:chOff x="0" y="0"/>
          <a:chExt cx="0" cy="0"/>
        </a:xfrm>
      </p:grpSpPr>
      <p:sp>
        <p:nvSpPr>
          <p:cNvPr id="186" name="Google Shape;186;p13:notes">
            <a:extLst>
              <a:ext uri="{FF2B5EF4-FFF2-40B4-BE49-F238E27FC236}">
                <a16:creationId xmlns:a16="http://schemas.microsoft.com/office/drawing/2014/main" id="{17054FB9-CBF9-4A74-0AF7-3472E9D9581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7" name="Google Shape;187;p13:notes">
            <a:extLst>
              <a:ext uri="{FF2B5EF4-FFF2-40B4-BE49-F238E27FC236}">
                <a16:creationId xmlns:a16="http://schemas.microsoft.com/office/drawing/2014/main" id="{CD2A7EEB-E41D-1176-5CFA-C1026192984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96680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Available pre-trained embedding layers (e.g., trained on Wikipedia page data), but you can also fit these models on your own corpus of text, to learn context-specific embeddings.</a:t>
            </a:r>
            <a:endParaRPr/>
          </a:p>
        </p:txBody>
      </p:sp>
      <p:sp>
        <p:nvSpPr>
          <p:cNvPr id="150" name="Google Shape;150;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This is skipgram on the right. One word to surrounding context words (we map input word to </a:t>
            </a:r>
            <a:endParaRPr/>
          </a:p>
        </p:txBody>
      </p:sp>
      <p:sp>
        <p:nvSpPr>
          <p:cNvPr id="166" name="Google Shape;166;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75" name="Google Shape;175;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observation is a ‘set’ of images and a set of captions. We train the model to predict which image goes with which caption, but we don’t actually care about the predictions. It’s a throw-away aspect of training. The resulting model learns highly informative (much more informative than before) representations of images in a vector space, a vector space that is also shared by text embeddings. We can map text to images, and images to text, quite accurately.  </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850711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C1F93-4AAD-8DA7-4F6F-E26111DBCC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01E8FE-F165-080C-FDE8-06A7F5E126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E63F44-D134-C3B1-15B4-CE972EBCD1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D1E157-5F28-ECDC-B804-7F2D35E069F6}"/>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897282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22" name="Google Shape;222;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This is skipgram on the right. One word to surrounding context words (we map input word to </a:t>
            </a:r>
            <a:endParaRPr/>
          </a:p>
        </p:txBody>
      </p:sp>
      <p:sp>
        <p:nvSpPr>
          <p:cNvPr id="230" name="Google Shape;230;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 name="Google Shape;23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38" name="Google Shape;238;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0" name="Google Shape;20;p19"/>
          <p:cNvSpPr txBox="1"/>
          <p:nvPr/>
        </p:nvSpPr>
        <p:spPr>
          <a:xfrm>
            <a:off x="168440" y="6349018"/>
            <a:ext cx="1695083"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Economica"/>
                <a:ea typeface="Economica"/>
                <a:cs typeface="Economica"/>
                <a:sym typeface="Economica"/>
              </a:rPr>
              <a:t>© Gordon Burtch, 2026</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7" name="Google Shape;27;p20"/>
          <p:cNvSpPr txBox="1"/>
          <p:nvPr/>
        </p:nvSpPr>
        <p:spPr>
          <a:xfrm>
            <a:off x="168440" y="6349018"/>
            <a:ext cx="1695083"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Economica"/>
                <a:ea typeface="Economica"/>
                <a:cs typeface="Economica"/>
                <a:sym typeface="Economica"/>
              </a:rPr>
              <a:t>© Gordon Burtch, 2026</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2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2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2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2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2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2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7"/>
          <p:cNvSpPr>
            <a:spLocks noGrp="1"/>
          </p:cNvSpPr>
          <p:nvPr>
            <p:ph type="pic" idx="2"/>
          </p:nvPr>
        </p:nvSpPr>
        <p:spPr>
          <a:xfrm>
            <a:off x="5183188" y="987425"/>
            <a:ext cx="6172200" cy="4873625"/>
          </a:xfrm>
          <a:prstGeom prst="rect">
            <a:avLst/>
          </a:prstGeom>
          <a:noFill/>
          <a:ln>
            <a:noFill/>
          </a:ln>
        </p:spPr>
      </p:sp>
      <p:sp>
        <p:nvSpPr>
          <p:cNvPr id="69" name="Google Shape;69;p2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2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89" name="Google Shape;89;p1"/>
          <p:cNvGrpSpPr/>
          <p:nvPr/>
        </p:nvGrpSpPr>
        <p:grpSpPr>
          <a:xfrm>
            <a:off x="2865521" y="1385048"/>
            <a:ext cx="6460957" cy="1657524"/>
            <a:chOff x="2971800" y="2588206"/>
            <a:chExt cx="6460957" cy="1657524"/>
          </a:xfrm>
        </p:grpSpPr>
        <p:sp>
          <p:nvSpPr>
            <p:cNvPr id="90" name="Google Shape;90;p1"/>
            <p:cNvSpPr txBox="1"/>
            <p:nvPr/>
          </p:nvSpPr>
          <p:spPr>
            <a:xfrm>
              <a:off x="2971800" y="2828835"/>
              <a:ext cx="6460957"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7200"/>
                <a:buFont typeface="Arial"/>
                <a:buNone/>
              </a:pPr>
              <a:r>
                <a:rPr lang="en-US" sz="7200" b="0" i="0" u="none" strike="noStrike" cap="none" dirty="0">
                  <a:solidFill>
                    <a:schemeClr val="dk1"/>
                  </a:solidFill>
                  <a:latin typeface="Economica"/>
                  <a:ea typeface="Economica"/>
                  <a:cs typeface="Economica"/>
                  <a:sym typeface="Economica"/>
                </a:rPr>
                <a:t>Neural Nets &amp; Text</a:t>
              </a:r>
              <a:endParaRPr sz="1400" b="0" i="0" u="none" strike="noStrike" cap="none" dirty="0">
                <a:solidFill>
                  <a:srgbClr val="000000"/>
                </a:solidFill>
                <a:latin typeface="Arial"/>
                <a:ea typeface="Arial"/>
                <a:cs typeface="Arial"/>
                <a:sym typeface="Arial"/>
              </a:endParaRPr>
            </a:p>
          </p:txBody>
        </p:sp>
        <p:grpSp>
          <p:nvGrpSpPr>
            <p:cNvPr id="91" name="Google Shape;91;p1"/>
            <p:cNvGrpSpPr/>
            <p:nvPr/>
          </p:nvGrpSpPr>
          <p:grpSpPr>
            <a:xfrm>
              <a:off x="3164307" y="2588206"/>
              <a:ext cx="1213182" cy="661736"/>
              <a:chOff x="3132555" y="2419542"/>
              <a:chExt cx="1651279" cy="1070810"/>
            </a:xfrm>
          </p:grpSpPr>
          <p:cxnSp>
            <p:nvCxnSpPr>
              <p:cNvPr id="92" name="Google Shape;92;p1"/>
              <p:cNvCxnSpPr/>
              <p:nvPr/>
            </p:nvCxnSpPr>
            <p:spPr>
              <a:xfrm>
                <a:off x="3132555" y="2419542"/>
                <a:ext cx="1651279" cy="0"/>
              </a:xfrm>
              <a:prstGeom prst="straightConnector1">
                <a:avLst/>
              </a:prstGeom>
              <a:noFill/>
              <a:ln w="38100" cap="flat" cmpd="sng">
                <a:solidFill>
                  <a:schemeClr val="accent1"/>
                </a:solidFill>
                <a:prstDash val="solid"/>
                <a:miter lim="800000"/>
                <a:headEnd type="none" w="sm" len="sm"/>
                <a:tailEnd type="none" w="sm" len="sm"/>
              </a:ln>
            </p:spPr>
          </p:cxnSp>
          <p:cxnSp>
            <p:nvCxnSpPr>
              <p:cNvPr id="93" name="Google Shape;93;p1"/>
              <p:cNvCxnSpPr/>
              <p:nvPr/>
            </p:nvCxnSpPr>
            <p:spPr>
              <a:xfrm rot="10800000">
                <a:off x="3132555" y="2419542"/>
                <a:ext cx="0" cy="1070810"/>
              </a:xfrm>
              <a:prstGeom prst="straightConnector1">
                <a:avLst/>
              </a:prstGeom>
              <a:noFill/>
              <a:ln w="38100" cap="flat" cmpd="sng">
                <a:solidFill>
                  <a:schemeClr val="accent1"/>
                </a:solidFill>
                <a:prstDash val="solid"/>
                <a:miter lim="800000"/>
                <a:headEnd type="none" w="sm" len="sm"/>
                <a:tailEnd type="none" w="sm" len="sm"/>
              </a:ln>
            </p:spPr>
          </p:cxnSp>
        </p:grpSp>
        <p:grpSp>
          <p:nvGrpSpPr>
            <p:cNvPr id="94" name="Google Shape;94;p1"/>
            <p:cNvGrpSpPr/>
            <p:nvPr/>
          </p:nvGrpSpPr>
          <p:grpSpPr>
            <a:xfrm rot="10800000">
              <a:off x="8071184" y="3583994"/>
              <a:ext cx="1092868" cy="661736"/>
              <a:chOff x="3269088" y="2458482"/>
              <a:chExt cx="1388919" cy="1070810"/>
            </a:xfrm>
          </p:grpSpPr>
          <p:cxnSp>
            <p:nvCxnSpPr>
              <p:cNvPr id="95" name="Google Shape;95;p1"/>
              <p:cNvCxnSpPr/>
              <p:nvPr/>
            </p:nvCxnSpPr>
            <p:spPr>
              <a:xfrm>
                <a:off x="3269088" y="2458484"/>
                <a:ext cx="1388919" cy="0"/>
              </a:xfrm>
              <a:prstGeom prst="straightConnector1">
                <a:avLst/>
              </a:prstGeom>
              <a:noFill/>
              <a:ln w="38100" cap="flat" cmpd="sng">
                <a:solidFill>
                  <a:schemeClr val="accent1"/>
                </a:solidFill>
                <a:prstDash val="solid"/>
                <a:miter lim="800000"/>
                <a:headEnd type="none" w="sm" len="sm"/>
                <a:tailEnd type="none" w="sm" len="sm"/>
              </a:ln>
            </p:spPr>
          </p:cxnSp>
          <p:cxnSp>
            <p:nvCxnSpPr>
              <p:cNvPr id="96" name="Google Shape;96;p1"/>
              <p:cNvCxnSpPr/>
              <p:nvPr/>
            </p:nvCxnSpPr>
            <p:spPr>
              <a:xfrm rot="10800000">
                <a:off x="3269088" y="2458482"/>
                <a:ext cx="0" cy="1070810"/>
              </a:xfrm>
              <a:prstGeom prst="straightConnector1">
                <a:avLst/>
              </a:prstGeom>
              <a:noFill/>
              <a:ln w="38100" cap="flat" cmpd="sng">
                <a:solidFill>
                  <a:schemeClr val="accent1"/>
                </a:solidFill>
                <a:prstDash val="solid"/>
                <a:miter lim="800000"/>
                <a:headEnd type="none" w="sm" len="sm"/>
                <a:tailEnd type="none" w="sm" len="sm"/>
              </a:ln>
            </p:spPr>
          </p:cxn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Today’s Agenda</a:t>
            </a:r>
            <a:endParaRPr sz="1400" b="0" i="0" u="none" strike="noStrike" cap="none">
              <a:solidFill>
                <a:srgbClr val="000000"/>
              </a:solidFill>
              <a:latin typeface="Arial"/>
              <a:ea typeface="Arial"/>
              <a:cs typeface="Arial"/>
              <a:sym typeface="Arial"/>
            </a:endParaRPr>
          </a:p>
        </p:txBody>
      </p:sp>
      <p:sp>
        <p:nvSpPr>
          <p:cNvPr id="110" name="Google Shape;110;p2"/>
          <p:cNvSpPr txBox="1"/>
          <p:nvPr/>
        </p:nvSpPr>
        <p:spPr>
          <a:xfrm>
            <a:off x="901488" y="2025532"/>
            <a:ext cx="10016362" cy="35086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Quicksand"/>
                <a:ea typeface="Quicksand"/>
                <a:cs typeface="Quicksand"/>
                <a:sym typeface="Quicksand"/>
              </a:rPr>
              <a:t>Natural Language Processing (NLP) Concepts</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Use Cases</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Quick review on bag of words approaches, etc.</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Quicksand"/>
                <a:ea typeface="Quicksand"/>
                <a:cs typeface="Quicksand"/>
                <a:sym typeface="Quicksand"/>
              </a:rPr>
              <a:t>Text Pre-processing Functions / Layers</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This implements basic standardization and punctuation</a:t>
            </a:r>
            <a:br>
              <a:rPr lang="en-US" sz="1800" b="0" i="0" u="none" strike="noStrike" cap="none" dirty="0">
                <a:solidFill>
                  <a:schemeClr val="dk1"/>
                </a:solidFill>
                <a:latin typeface="Quicksand"/>
                <a:ea typeface="Quicksand"/>
                <a:cs typeface="Quicksand"/>
                <a:sym typeface="Quicksand"/>
              </a:rPr>
            </a:br>
            <a:r>
              <a:rPr lang="en-US" sz="1800" b="0" i="0" u="none" strike="noStrike" cap="none" dirty="0">
                <a:solidFill>
                  <a:schemeClr val="dk1"/>
                </a:solidFill>
                <a:latin typeface="Quicksand"/>
                <a:ea typeface="Quicksand"/>
                <a:cs typeface="Quicksand"/>
                <a:sym typeface="Quicksand"/>
              </a:rPr>
              <a:t>removal. It assumes 1-grams, then one-hot encodes.</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No stemming or stop word removal, by default.</a:t>
            </a:r>
            <a:endParaRPr sz="14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chemeClr val="dk1"/>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Quicksand"/>
                <a:ea typeface="Quicksand"/>
                <a:cs typeface="Quicksand"/>
                <a:sym typeface="Quicksand"/>
              </a:rPr>
              <a:t>Architectures for Sequence Data</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Recurrent Neural Networks (RNNs)</a:t>
            </a:r>
            <a:endParaRPr lang="en-US" sz="1800" b="0"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Calibri"/>
                <a:ea typeface="Calibri"/>
                <a:cs typeface="Calibri"/>
                <a:sym typeface="Calibri"/>
              </a:rPr>
              <a:t>Bidirectional LSTM</a:t>
            </a:r>
            <a:endParaRPr sz="1400" b="0" i="0" u="none" strike="noStrike" cap="none" dirty="0">
              <a:solidFill>
                <a:srgbClr val="000000"/>
              </a:solidFill>
              <a:latin typeface="Arial"/>
              <a:ea typeface="Arial"/>
              <a:cs typeface="Arial"/>
              <a:sym typeface="Arial"/>
            </a:endParaRPr>
          </a:p>
        </p:txBody>
      </p:sp>
      <p:pic>
        <p:nvPicPr>
          <p:cNvPr id="111" name="Google Shape;111;p2" descr="Build an Effective Meeting Agenda Template | WorkPatterns"/>
          <p:cNvPicPr preferRelativeResize="0"/>
          <p:nvPr/>
        </p:nvPicPr>
        <p:blipFill rotWithShape="1">
          <a:blip r:embed="rId3">
            <a:alphaModFix/>
          </a:blip>
          <a:srcRect/>
          <a:stretch/>
        </p:blipFill>
        <p:spPr>
          <a:xfrm>
            <a:off x="6382305" y="2450790"/>
            <a:ext cx="6434164" cy="338296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3"/>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Economica"/>
                <a:cs typeface="Economica"/>
                <a:sym typeface="Economica"/>
              </a:rPr>
              <a:t>Quick Review of NLP Concepts</a:t>
            </a:r>
            <a:endParaRPr sz="1400" b="0" i="0" u="none" strike="noStrike" cap="none" dirty="0">
              <a:solidFill>
                <a:srgbClr val="000000"/>
              </a:solidFill>
              <a:latin typeface="Arial"/>
              <a:ea typeface="Arial"/>
              <a:cs typeface="Arial"/>
              <a:sym typeface="Arial"/>
            </a:endParaRPr>
          </a:p>
        </p:txBody>
      </p:sp>
      <p:sp>
        <p:nvSpPr>
          <p:cNvPr id="117" name="Google Shape;117;p3"/>
          <p:cNvSpPr txBox="1"/>
          <p:nvPr/>
        </p:nvSpPr>
        <p:spPr>
          <a:xfrm>
            <a:off x="1025803" y="1819294"/>
            <a:ext cx="9438997" cy="17850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Pre-processing Text</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Lower-casing, stop word removal, stemming, removing punctuation, stripping rare tokens, etc.</a:t>
            </a:r>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Tokenization (this may be chars, words, sentences, etc.</a:t>
            </a: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Integer encoding / indexing the tokens. </a:t>
            </a:r>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Finally, I may or may not leverage sequence information.</a:t>
            </a:r>
            <a:endParaRPr/>
          </a:p>
          <a:p>
            <a:pPr marL="285750" marR="0" lvl="0" indent="-285750" algn="l" rtl="0">
              <a:lnSpc>
                <a:spcPct val="100000"/>
              </a:lnSpc>
              <a:spcBef>
                <a:spcPts val="0"/>
              </a:spcBef>
              <a:spcAft>
                <a:spcPts val="0"/>
              </a:spcAft>
              <a:buClr>
                <a:schemeClr val="dk1"/>
              </a:buClr>
              <a:buSzPts val="1800"/>
              <a:buFont typeface="Arial"/>
              <a:buChar char="•"/>
            </a:pPr>
            <a:r>
              <a:rPr lang="en-US" sz="1800" b="0" i="1" u="none" strike="noStrike" cap="none">
                <a:solidFill>
                  <a:schemeClr val="dk1"/>
                </a:solidFill>
                <a:latin typeface="Calibri"/>
                <a:ea typeface="Calibri"/>
                <a:cs typeface="Calibri"/>
                <a:sym typeface="Calibri"/>
              </a:rPr>
              <a:t>Q: what is a bag of words approach? What are n-grams?</a:t>
            </a:r>
            <a:endParaRPr sz="1400" b="0" i="1" u="none" strike="noStrike" cap="none">
              <a:solidFill>
                <a:srgbClr val="000000"/>
              </a:solidFill>
              <a:latin typeface="Arial"/>
              <a:ea typeface="Arial"/>
              <a:cs typeface="Arial"/>
              <a:sym typeface="Arial"/>
            </a:endParaRPr>
          </a:p>
        </p:txBody>
      </p:sp>
      <p:graphicFrame>
        <p:nvGraphicFramePr>
          <p:cNvPr id="118" name="Google Shape;118;p3"/>
          <p:cNvGraphicFramePr/>
          <p:nvPr/>
        </p:nvGraphicFramePr>
        <p:xfrm>
          <a:off x="2664178" y="3652820"/>
          <a:ext cx="6863625" cy="2801900"/>
        </p:xfrm>
        <a:graphic>
          <a:graphicData uri="http://schemas.openxmlformats.org/drawingml/2006/table">
            <a:tbl>
              <a:tblPr>
                <a:noFill/>
                <a:tableStyleId>{602372D1-F9C1-48B9-90D7-9A1CC5A1757B}</a:tableStyleId>
              </a:tblPr>
              <a:tblGrid>
                <a:gridCol w="981800">
                  <a:extLst>
                    <a:ext uri="{9D8B030D-6E8A-4147-A177-3AD203B41FA5}">
                      <a16:colId xmlns:a16="http://schemas.microsoft.com/office/drawing/2014/main" val="20000"/>
                    </a:ext>
                  </a:extLst>
                </a:gridCol>
                <a:gridCol w="980300">
                  <a:extLst>
                    <a:ext uri="{9D8B030D-6E8A-4147-A177-3AD203B41FA5}">
                      <a16:colId xmlns:a16="http://schemas.microsoft.com/office/drawing/2014/main" val="20001"/>
                    </a:ext>
                  </a:extLst>
                </a:gridCol>
                <a:gridCol w="980300">
                  <a:extLst>
                    <a:ext uri="{9D8B030D-6E8A-4147-A177-3AD203B41FA5}">
                      <a16:colId xmlns:a16="http://schemas.microsoft.com/office/drawing/2014/main" val="20002"/>
                    </a:ext>
                  </a:extLst>
                </a:gridCol>
                <a:gridCol w="978825">
                  <a:extLst>
                    <a:ext uri="{9D8B030D-6E8A-4147-A177-3AD203B41FA5}">
                      <a16:colId xmlns:a16="http://schemas.microsoft.com/office/drawing/2014/main" val="20003"/>
                    </a:ext>
                  </a:extLst>
                </a:gridCol>
                <a:gridCol w="980300">
                  <a:extLst>
                    <a:ext uri="{9D8B030D-6E8A-4147-A177-3AD203B41FA5}">
                      <a16:colId xmlns:a16="http://schemas.microsoft.com/office/drawing/2014/main" val="20004"/>
                    </a:ext>
                  </a:extLst>
                </a:gridCol>
                <a:gridCol w="980300">
                  <a:extLst>
                    <a:ext uri="{9D8B030D-6E8A-4147-A177-3AD203B41FA5}">
                      <a16:colId xmlns:a16="http://schemas.microsoft.com/office/drawing/2014/main" val="20005"/>
                    </a:ext>
                  </a:extLst>
                </a:gridCol>
                <a:gridCol w="981800">
                  <a:extLst>
                    <a:ext uri="{9D8B030D-6E8A-4147-A177-3AD203B41FA5}">
                      <a16:colId xmlns:a16="http://schemas.microsoft.com/office/drawing/2014/main" val="20006"/>
                    </a:ext>
                  </a:extLst>
                </a:gridCol>
              </a:tblGrid>
              <a:tr h="271225">
                <a:tc>
                  <a:txBody>
                    <a:bodyPr/>
                    <a:lstStyle/>
                    <a:p>
                      <a:pPr marL="0" marR="0" lvl="0" indent="0" algn="l" rtl="0">
                        <a:lnSpc>
                          <a:spcPct val="100000"/>
                        </a:lnSpc>
                        <a:spcBef>
                          <a:spcPts val="0"/>
                        </a:spcBef>
                        <a:spcAft>
                          <a:spcPts val="0"/>
                        </a:spcAft>
                        <a:buClr>
                          <a:schemeClr val="dk1"/>
                        </a:buClr>
                        <a:buSzPts val="1100"/>
                        <a:buFont typeface="Calibri"/>
                        <a:buNone/>
                      </a:pPr>
                      <a:endParaRPr sz="1100" b="0" i="0" u="none" strike="noStrike" cap="none">
                        <a:solidFill>
                          <a:schemeClr val="dk1"/>
                        </a:solidFill>
                        <a:latin typeface="Quicksand"/>
                        <a:ea typeface="Quicksand"/>
                        <a:cs typeface="Quicksand"/>
                        <a:sym typeface="Quicksand"/>
                      </a:endParaRPr>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Database</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SQL</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Index</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Regression</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Likelihood</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linear</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D1</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24</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21</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9</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D2</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5</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D3</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16</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5</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D4</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6</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7</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D5</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43</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31</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D6</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18</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7</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6</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D7</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D8</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4</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4</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D9</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34</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27</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25</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4"/>
          <p:cNvSpPr txBox="1">
            <a:spLocks noGrp="1"/>
          </p:cNvSpPr>
          <p:nvPr>
            <p:ph type="title"/>
          </p:nvPr>
        </p:nvSpPr>
        <p:spPr>
          <a:xfrm>
            <a:off x="838200" y="376414"/>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923"/>
              <a:buFont typeface="Economica"/>
              <a:buNone/>
            </a:pPr>
            <a:r>
              <a:rPr lang="en-US" sz="4923" dirty="0">
                <a:latin typeface="Economica"/>
                <a:ea typeface="Economica"/>
                <a:cs typeface="Economica"/>
                <a:sym typeface="Economica"/>
              </a:rPr>
              <a:t>Weighting Term-Documents: TF-IDF</a:t>
            </a:r>
            <a:endParaRPr dirty="0"/>
          </a:p>
        </p:txBody>
      </p:sp>
      <p:sp>
        <p:nvSpPr>
          <p:cNvPr id="124" name="Google Shape;124;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chemeClr val="dk1"/>
              </a:buClr>
              <a:buSzPct val="100000"/>
              <a:buNone/>
            </a:pPr>
            <a:r>
              <a:rPr lang="en-US" sz="2200" b="1"/>
              <a:t>Not all phrases are of equal importance…</a:t>
            </a:r>
            <a:endParaRPr/>
          </a:p>
          <a:p>
            <a:pPr marL="347663" lvl="1" indent="-236600" algn="l" rtl="0">
              <a:lnSpc>
                <a:spcPct val="90000"/>
              </a:lnSpc>
              <a:spcBef>
                <a:spcPts val="500"/>
              </a:spcBef>
              <a:spcAft>
                <a:spcPts val="0"/>
              </a:spcAft>
              <a:buClr>
                <a:schemeClr val="dk1"/>
              </a:buClr>
              <a:buSzPct val="100000"/>
              <a:buChar char="•"/>
            </a:pPr>
            <a:r>
              <a:rPr lang="en-US" sz="1900"/>
              <a:t>E.g., David less important than Beckham</a:t>
            </a:r>
            <a:endParaRPr/>
          </a:p>
          <a:p>
            <a:pPr marL="347663" lvl="1" indent="-236600" algn="l" rtl="0">
              <a:lnSpc>
                <a:spcPct val="90000"/>
              </a:lnSpc>
              <a:spcBef>
                <a:spcPts val="500"/>
              </a:spcBef>
              <a:spcAft>
                <a:spcPts val="0"/>
              </a:spcAft>
              <a:buClr>
                <a:schemeClr val="dk1"/>
              </a:buClr>
              <a:buSzPct val="100000"/>
              <a:buChar char="•"/>
            </a:pPr>
            <a:r>
              <a:rPr lang="en-US" sz="1900"/>
              <a:t>If a term occurs all the time, observing its presence is less informative</a:t>
            </a:r>
            <a:endParaRPr/>
          </a:p>
          <a:p>
            <a:pPr marL="228600" lvl="0" indent="-55118" algn="l" rtl="0">
              <a:lnSpc>
                <a:spcPct val="90000"/>
              </a:lnSpc>
              <a:spcBef>
                <a:spcPts val="1000"/>
              </a:spcBef>
              <a:spcAft>
                <a:spcPts val="0"/>
              </a:spcAft>
              <a:buClr>
                <a:schemeClr val="dk1"/>
              </a:buClr>
              <a:buSzPct val="100000"/>
              <a:buNone/>
            </a:pPr>
            <a:endParaRPr sz="2954"/>
          </a:p>
          <a:p>
            <a:pPr marL="0" lvl="0" indent="0" algn="l" rtl="0">
              <a:lnSpc>
                <a:spcPct val="90000"/>
              </a:lnSpc>
              <a:spcBef>
                <a:spcPts val="1000"/>
              </a:spcBef>
              <a:spcAft>
                <a:spcPts val="0"/>
              </a:spcAft>
              <a:buClr>
                <a:schemeClr val="dk1"/>
              </a:buClr>
              <a:buSzPct val="100000"/>
              <a:buNone/>
            </a:pPr>
            <a:r>
              <a:rPr lang="en-US" sz="2200" b="1"/>
              <a:t>Inverse-document frequency (IDF) helps address this.  </a:t>
            </a:r>
            <a:endParaRPr/>
          </a:p>
          <a:p>
            <a:pPr marL="685800" lvl="1" indent="-84009" algn="l" rtl="0">
              <a:lnSpc>
                <a:spcPct val="90000"/>
              </a:lnSpc>
              <a:spcBef>
                <a:spcPts val="500"/>
              </a:spcBef>
              <a:spcAft>
                <a:spcPts val="0"/>
              </a:spcAft>
              <a:buClr>
                <a:schemeClr val="dk1"/>
              </a:buClr>
              <a:buSzPct val="100000"/>
              <a:buNone/>
            </a:pPr>
            <a:endParaRPr sz="2462"/>
          </a:p>
          <a:p>
            <a:pPr marL="685800" lvl="1" indent="-84009" algn="l" rtl="0">
              <a:lnSpc>
                <a:spcPct val="90000"/>
              </a:lnSpc>
              <a:spcBef>
                <a:spcPts val="500"/>
              </a:spcBef>
              <a:spcAft>
                <a:spcPts val="0"/>
              </a:spcAft>
              <a:buClr>
                <a:schemeClr val="dk1"/>
              </a:buClr>
              <a:buSzPct val="100000"/>
              <a:buNone/>
            </a:pPr>
            <a:endParaRPr sz="2462"/>
          </a:p>
          <a:p>
            <a:pPr marL="685800" lvl="1" indent="-84009" algn="l" rtl="0">
              <a:lnSpc>
                <a:spcPct val="90000"/>
              </a:lnSpc>
              <a:spcBef>
                <a:spcPts val="500"/>
              </a:spcBef>
              <a:spcAft>
                <a:spcPts val="0"/>
              </a:spcAft>
              <a:buClr>
                <a:schemeClr val="dk1"/>
              </a:buClr>
              <a:buSzPct val="100000"/>
              <a:buNone/>
            </a:pPr>
            <a:endParaRPr sz="2462"/>
          </a:p>
          <a:p>
            <a:pPr marL="685800" lvl="1" indent="-228662" algn="l" rtl="0">
              <a:lnSpc>
                <a:spcPct val="90000"/>
              </a:lnSpc>
              <a:spcBef>
                <a:spcPts val="500"/>
              </a:spcBef>
              <a:spcAft>
                <a:spcPts val="0"/>
              </a:spcAft>
              <a:buClr>
                <a:schemeClr val="dk1"/>
              </a:buClr>
              <a:buSzPct val="100000"/>
              <a:buChar char="•"/>
            </a:pPr>
            <a:r>
              <a:rPr lang="en-US" sz="1900"/>
              <a:t>Term ‘weighting’ is then calculated as Term Frequency (TF) x IDF</a:t>
            </a:r>
            <a:endParaRPr/>
          </a:p>
          <a:p>
            <a:pPr marL="685800" lvl="1" indent="-228662" algn="l" rtl="0">
              <a:lnSpc>
                <a:spcPct val="90000"/>
              </a:lnSpc>
              <a:spcBef>
                <a:spcPts val="500"/>
              </a:spcBef>
              <a:spcAft>
                <a:spcPts val="0"/>
              </a:spcAft>
              <a:buClr>
                <a:schemeClr val="dk1"/>
              </a:buClr>
              <a:buSzPct val="100000"/>
              <a:buChar char="•"/>
            </a:pPr>
            <a:r>
              <a:rPr lang="en-US" sz="1900"/>
              <a:t>n</a:t>
            </a:r>
            <a:r>
              <a:rPr lang="en-US" sz="1900" baseline="-25000"/>
              <a:t>j</a:t>
            </a:r>
            <a:r>
              <a:rPr lang="en-US" sz="1900"/>
              <a:t>= # of docs containing the term, N = total # of docs</a:t>
            </a:r>
            <a:endParaRPr/>
          </a:p>
          <a:p>
            <a:pPr marL="685800" lvl="1" indent="-228662" algn="l" rtl="0">
              <a:lnSpc>
                <a:spcPct val="90000"/>
              </a:lnSpc>
              <a:spcBef>
                <a:spcPts val="500"/>
              </a:spcBef>
              <a:spcAft>
                <a:spcPts val="0"/>
              </a:spcAft>
              <a:buClr>
                <a:schemeClr val="dk1"/>
              </a:buClr>
              <a:buSzPct val="100000"/>
              <a:buChar char="•"/>
            </a:pPr>
            <a:r>
              <a:rPr lang="en-US" sz="1900"/>
              <a:t>A term is deemed important if it has a high TF and/or a high IDF.</a:t>
            </a:r>
            <a:endParaRPr/>
          </a:p>
          <a:p>
            <a:pPr marL="685800" lvl="1" indent="-228662" algn="l" rtl="0">
              <a:lnSpc>
                <a:spcPct val="90000"/>
              </a:lnSpc>
              <a:spcBef>
                <a:spcPts val="500"/>
              </a:spcBef>
              <a:spcAft>
                <a:spcPts val="0"/>
              </a:spcAft>
              <a:buClr>
                <a:schemeClr val="dk1"/>
              </a:buClr>
              <a:buSzPct val="100000"/>
              <a:buChar char="•"/>
            </a:pPr>
            <a:r>
              <a:rPr lang="en-US" sz="1900"/>
              <a:t>As TF goes up, the word is more common generally. As IDF goes up, it means very few documents contain this term.</a:t>
            </a:r>
            <a:endParaRPr/>
          </a:p>
        </p:txBody>
      </p:sp>
      <p:pic>
        <p:nvPicPr>
          <p:cNvPr id="125" name="Google Shape;125;p4"/>
          <p:cNvPicPr preferRelativeResize="0"/>
          <p:nvPr/>
        </p:nvPicPr>
        <p:blipFill rotWithShape="1">
          <a:blip r:embed="rId3">
            <a:alphaModFix/>
          </a:blip>
          <a:srcRect/>
          <a:stretch/>
        </p:blipFill>
        <p:spPr>
          <a:xfrm>
            <a:off x="4998525" y="4001294"/>
            <a:ext cx="2194950" cy="28617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29"/>
        <p:cNvGrpSpPr/>
        <p:nvPr/>
      </p:nvGrpSpPr>
      <p:grpSpPr>
        <a:xfrm>
          <a:off x="0" y="0"/>
          <a:ext cx="0" cy="0"/>
          <a:chOff x="0" y="0"/>
          <a:chExt cx="0" cy="0"/>
        </a:xfrm>
      </p:grpSpPr>
      <p:sp>
        <p:nvSpPr>
          <p:cNvPr id="130" name="Google Shape;130;p5"/>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TextVectorization Layer</a:t>
            </a:r>
            <a:endParaRPr sz="1400" b="0" i="0" u="none" strike="noStrike" cap="none">
              <a:solidFill>
                <a:srgbClr val="000000"/>
              </a:solidFill>
              <a:latin typeface="Arial"/>
              <a:ea typeface="Arial"/>
              <a:cs typeface="Arial"/>
              <a:sym typeface="Arial"/>
            </a:endParaRPr>
          </a:p>
        </p:txBody>
      </p:sp>
      <p:sp>
        <p:nvSpPr>
          <p:cNvPr id="131" name="Google Shape;131;p5"/>
          <p:cNvSpPr txBox="1"/>
          <p:nvPr/>
        </p:nvSpPr>
        <p:spPr>
          <a:xfrm>
            <a:off x="1014515" y="1826371"/>
            <a:ext cx="4878285" cy="403187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Pre-processing Text</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Standardization, tokenization (words), </a:t>
            </a:r>
            <a:br>
              <a:rPr lang="en-US" sz="1800" b="0" i="0" u="none" strike="noStrike" cap="none">
                <a:solidFill>
                  <a:schemeClr val="dk1"/>
                </a:solidFill>
                <a:latin typeface="Calibri"/>
                <a:ea typeface="Calibri"/>
                <a:cs typeface="Calibri"/>
                <a:sym typeface="Calibri"/>
              </a:rPr>
            </a:br>
            <a:r>
              <a:rPr lang="en-US" sz="1800" b="0" i="0" u="none" strike="noStrike" cap="none">
                <a:solidFill>
                  <a:schemeClr val="dk1"/>
                </a:solidFill>
                <a:latin typeface="Calibri"/>
                <a:ea typeface="Calibri"/>
                <a:cs typeface="Calibri"/>
                <a:sym typeface="Calibri"/>
              </a:rPr>
              <a:t>one-hot-encoding / vectorization.</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The Keras TextVectorization() layer achieves </a:t>
            </a:r>
            <a:br>
              <a:rPr lang="en-US" sz="1800" b="0" i="0" u="none" strike="noStrike" cap="none">
                <a:solidFill>
                  <a:schemeClr val="dk1"/>
                </a:solidFill>
                <a:latin typeface="Calibri"/>
                <a:ea typeface="Calibri"/>
                <a:cs typeface="Calibri"/>
                <a:sym typeface="Calibri"/>
              </a:rPr>
            </a:br>
            <a:r>
              <a:rPr lang="en-US" sz="1800" b="0" i="0" u="none" strike="noStrike" cap="none">
                <a:solidFill>
                  <a:schemeClr val="dk1"/>
                </a:solidFill>
                <a:latin typeface="Calibri"/>
                <a:ea typeface="Calibri"/>
                <a:cs typeface="Calibri"/>
                <a:sym typeface="Calibri"/>
              </a:rPr>
              <a:t>these steps quickly.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Customization</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You can work with n-grams, and do other sorts of pre-processing, using arguments.</a:t>
            </a:r>
            <a:endParaRPr sz="14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Calibri"/>
                <a:ea typeface="Calibri"/>
                <a:cs typeface="Calibri"/>
                <a:sym typeface="Calibri"/>
              </a:rPr>
              <a:t>Options</a:t>
            </a:r>
            <a:endParaRPr sz="1800" b="1" i="0" u="none" strike="noStrike" cap="none">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Include as part of TF Dataset pipeline (more efficient)</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Include as a layer in your Keras model. </a:t>
            </a:r>
            <a:endParaRPr sz="1400" b="0" i="0" u="none" strike="noStrike" cap="none">
              <a:solidFill>
                <a:srgbClr val="000000"/>
              </a:solidFill>
              <a:latin typeface="Arial"/>
              <a:ea typeface="Arial"/>
              <a:cs typeface="Arial"/>
              <a:sym typeface="Arial"/>
            </a:endParaRPr>
          </a:p>
        </p:txBody>
      </p:sp>
      <p:pic>
        <p:nvPicPr>
          <p:cNvPr id="132" name="Google Shape;132;p5"/>
          <p:cNvPicPr preferRelativeResize="0"/>
          <p:nvPr/>
        </p:nvPicPr>
        <p:blipFill rotWithShape="1">
          <a:blip r:embed="rId3">
            <a:alphaModFix/>
          </a:blip>
          <a:srcRect/>
          <a:stretch/>
        </p:blipFill>
        <p:spPr>
          <a:xfrm>
            <a:off x="6571029" y="2051847"/>
            <a:ext cx="4295342" cy="410351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Google Shape;123;p5" descr="How to Use Convolutional Neural Networks for Time Series Classification"/>
          <p:cNvPicPr preferRelativeResize="0"/>
          <p:nvPr/>
        </p:nvPicPr>
        <p:blipFill rotWithShape="1">
          <a:blip r:embed="rId3">
            <a:alphaModFix/>
          </a:blip>
          <a:srcRect/>
          <a:stretch/>
        </p:blipFill>
        <p:spPr>
          <a:xfrm>
            <a:off x="1957227" y="2950824"/>
            <a:ext cx="9087556" cy="3907176"/>
          </a:xfrm>
          <a:prstGeom prst="rect">
            <a:avLst/>
          </a:prstGeom>
          <a:noFill/>
          <a:ln>
            <a:noFill/>
          </a:ln>
        </p:spPr>
      </p:pic>
      <p:sp>
        <p:nvSpPr>
          <p:cNvPr id="124" name="Google Shape;124;p5"/>
          <p:cNvSpPr txBox="1"/>
          <p:nvPr/>
        </p:nvSpPr>
        <p:spPr>
          <a:xfrm>
            <a:off x="558932" y="511672"/>
            <a:ext cx="11074136"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Sequence Data? We Can Do a 1D Convolution</a:t>
            </a:r>
            <a:endParaRPr dirty="0"/>
          </a:p>
        </p:txBody>
      </p:sp>
      <p:sp>
        <p:nvSpPr>
          <p:cNvPr id="125" name="Google Shape;125;p5"/>
          <p:cNvSpPr txBox="1"/>
          <p:nvPr/>
        </p:nvSpPr>
        <p:spPr>
          <a:xfrm>
            <a:off x="890337" y="1940249"/>
            <a:ext cx="10016362" cy="12311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Quicksand"/>
                <a:ea typeface="Quicksand"/>
                <a:cs typeface="Quicksand"/>
                <a:sym typeface="Quicksand"/>
              </a:rPr>
              <a:t>1D Convolution Accomplishes Same Goal as 2D</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It only considers arrangement of features in one dimension (temporal ordering).</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Compresses into shorter sequences, across the entire set of features (just as 2D Conv compresses matrices into smaller matrices, across the entire set of input channels (e.g., RGB).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2050" name="Picture 2">
            <a:extLst>
              <a:ext uri="{FF2B5EF4-FFF2-40B4-BE49-F238E27FC236}">
                <a16:creationId xmlns:a16="http://schemas.microsoft.com/office/drawing/2014/main" id="{A8F34B03-DDD6-FA47-C985-FA1B9B2004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1825" y="1966273"/>
            <a:ext cx="10028349" cy="3139082"/>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24;p5">
            <a:extLst>
              <a:ext uri="{FF2B5EF4-FFF2-40B4-BE49-F238E27FC236}">
                <a16:creationId xmlns:a16="http://schemas.microsoft.com/office/drawing/2014/main" id="{242E88A0-0A55-6F9D-EBAB-8D4833E9A065}"/>
              </a:ext>
            </a:extLst>
          </p:cNvPr>
          <p:cNvSpPr txBox="1"/>
          <p:nvPr/>
        </p:nvSpPr>
        <p:spPr>
          <a:xfrm>
            <a:off x="1712890" y="586938"/>
            <a:ext cx="9118241"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sym typeface="Economica"/>
              </a:rPr>
              <a:t>Different Types of NN Task Structures</a:t>
            </a:r>
            <a:endParaRPr dirty="0"/>
          </a:p>
        </p:txBody>
      </p:sp>
      <p:sp>
        <p:nvSpPr>
          <p:cNvPr id="3" name="Google Shape;131;p6">
            <a:extLst>
              <a:ext uri="{FF2B5EF4-FFF2-40B4-BE49-F238E27FC236}">
                <a16:creationId xmlns:a16="http://schemas.microsoft.com/office/drawing/2014/main" id="{B05D2BC6-69AA-D192-6C82-7C20B0418C68}"/>
              </a:ext>
            </a:extLst>
          </p:cNvPr>
          <p:cNvSpPr txBox="1"/>
          <p:nvPr/>
        </p:nvSpPr>
        <p:spPr>
          <a:xfrm>
            <a:off x="1263829" y="5445492"/>
            <a:ext cx="10016362" cy="707846"/>
          </a:xfrm>
          <a:prstGeom prst="rect">
            <a:avLst/>
          </a:prstGeom>
          <a:noFill/>
          <a:ln>
            <a:noFill/>
          </a:ln>
        </p:spPr>
        <p:txBody>
          <a:bodyPr spcFirstLastPara="1" wrap="square" lIns="91425" tIns="45700" rIns="91425" bIns="45700" anchor="t" anchorCtr="0">
            <a:spAutoFit/>
          </a:bodyPr>
          <a:lstStyle/>
          <a:p>
            <a:pPr lvl="0" algn="ctr"/>
            <a:r>
              <a:rPr lang="en-US" sz="2000" b="1" dirty="0">
                <a:solidFill>
                  <a:schemeClr val="dk1"/>
                </a:solidFill>
                <a:latin typeface="Quicksand"/>
                <a:ea typeface="Quicksand"/>
                <a:cs typeface="Quicksand"/>
                <a:sym typeface="Quicksand"/>
              </a:rPr>
              <a:t>Given what we’ve learned so far, what challenges can you foresee when it comes to ‘many-to-many’ problems?</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7"/>
          <p:cNvSpPr txBox="1"/>
          <p:nvPr/>
        </p:nvSpPr>
        <p:spPr>
          <a:xfrm>
            <a:off x="2155062" y="658976"/>
            <a:ext cx="7881869"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‘Recurrent’ Neural Network (RNN)</a:t>
            </a:r>
            <a:endParaRPr dirty="0"/>
          </a:p>
        </p:txBody>
      </p:sp>
      <p:sp>
        <p:nvSpPr>
          <p:cNvPr id="139" name="Google Shape;139;p7"/>
          <p:cNvSpPr txBox="1"/>
          <p:nvPr/>
        </p:nvSpPr>
        <p:spPr>
          <a:xfrm>
            <a:off x="890337" y="1861226"/>
            <a:ext cx="10016362" cy="15080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err="1">
                <a:solidFill>
                  <a:schemeClr val="dk1"/>
                </a:solidFill>
                <a:latin typeface="Quicksand"/>
                <a:ea typeface="Quicksand"/>
                <a:cs typeface="Quicksand"/>
                <a:sym typeface="Quicksand"/>
              </a:rPr>
              <a:t>Keras</a:t>
            </a:r>
            <a:r>
              <a:rPr lang="en-US" sz="2000" b="1" dirty="0">
                <a:solidFill>
                  <a:schemeClr val="dk1"/>
                </a:solidFill>
                <a:latin typeface="Quicksand"/>
                <a:ea typeface="Quicksand"/>
                <a:cs typeface="Quicksand"/>
                <a:sym typeface="Quicksand"/>
              </a:rPr>
              <a:t> Layer </a:t>
            </a:r>
            <a:r>
              <a:rPr lang="en-US" sz="2000" b="1" dirty="0" err="1">
                <a:solidFill>
                  <a:schemeClr val="dk1"/>
                </a:solidFill>
                <a:latin typeface="Quicksand"/>
                <a:ea typeface="Quicksand"/>
                <a:cs typeface="Quicksand"/>
                <a:sym typeface="Quicksand"/>
              </a:rPr>
              <a:t>SimpleRNN</a:t>
            </a:r>
            <a:endParaRPr sz="2000" b="1" dirty="0">
              <a:solidFill>
                <a:schemeClr val="dk1"/>
              </a:solidFill>
              <a:latin typeface="Quicksand"/>
              <a:ea typeface="Quicksand"/>
              <a:cs typeface="Quicksand"/>
              <a:sym typeface="Quicksand"/>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It’s a Dense layer that processes input token by token, with a feedback loop.</a:t>
            </a:r>
            <a:endParaRPr dirty="0"/>
          </a:p>
          <a:p>
            <a:pPr marL="285750" lvl="0" indent="-285750">
              <a:buClr>
                <a:schemeClr val="dk1"/>
              </a:buClr>
              <a:buSzPts val="1800"/>
              <a:buFont typeface="Arial"/>
              <a:buChar char="•"/>
            </a:pPr>
            <a:r>
              <a:rPr lang="en-US" sz="1800" dirty="0">
                <a:solidFill>
                  <a:schemeClr val="dk1"/>
                </a:solidFill>
                <a:latin typeface="Calibri"/>
                <a:ea typeface="Calibri"/>
                <a:cs typeface="Calibri"/>
                <a:sym typeface="Calibri"/>
              </a:rPr>
              <a:t>The inputs are arranged to interact with one another based on their temporal sequencing in the data.</a:t>
            </a:r>
            <a:endParaRPr dirty="0"/>
          </a:p>
          <a:p>
            <a:pPr marL="285750" lvl="0" indent="-285750">
              <a:buClr>
                <a:schemeClr val="dk1"/>
              </a:buClr>
              <a:buSzPts val="1800"/>
              <a:buFont typeface="Arial"/>
              <a:buChar char="•"/>
            </a:pPr>
            <a:r>
              <a:rPr lang="en-US" sz="1800" dirty="0">
                <a:solidFill>
                  <a:schemeClr val="dk1"/>
                </a:solidFill>
                <a:latin typeface="Calibri"/>
                <a:ea typeface="Calibri"/>
                <a:cs typeface="Calibri"/>
                <a:sym typeface="Calibri"/>
              </a:rPr>
              <a:t>In practice, we cannot use </a:t>
            </a:r>
            <a:r>
              <a:rPr lang="en-US" sz="1800" dirty="0" err="1">
                <a:solidFill>
                  <a:schemeClr val="dk1"/>
                </a:solidFill>
                <a:latin typeface="Calibri"/>
                <a:ea typeface="Calibri"/>
                <a:cs typeface="Calibri"/>
                <a:sym typeface="Calibri"/>
              </a:rPr>
              <a:t>SimpleRNNs</a:t>
            </a:r>
            <a:r>
              <a:rPr lang="en-US" sz="1800" dirty="0">
                <a:solidFill>
                  <a:schemeClr val="dk1"/>
                </a:solidFill>
                <a:latin typeface="Calibri"/>
                <a:ea typeface="Calibri"/>
                <a:cs typeface="Calibri"/>
                <a:sym typeface="Calibri"/>
              </a:rPr>
              <a:t> to achieve meaningful memory (vanishing gradients arise very quickly! Can you see why?).</a:t>
            </a:r>
            <a:endParaRPr dirty="0"/>
          </a:p>
        </p:txBody>
      </p:sp>
      <p:pic>
        <p:nvPicPr>
          <p:cNvPr id="140" name="Google Shape;140;p7"/>
          <p:cNvPicPr preferRelativeResize="0"/>
          <p:nvPr/>
        </p:nvPicPr>
        <p:blipFill rotWithShape="1">
          <a:blip r:embed="rId3">
            <a:alphaModFix/>
          </a:blip>
          <a:srcRect/>
          <a:stretch/>
        </p:blipFill>
        <p:spPr>
          <a:xfrm>
            <a:off x="1804103" y="3684058"/>
            <a:ext cx="8583789" cy="225889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61A35004-8D0D-C173-CDDE-5767EB24CD19}"/>
            </a:ext>
          </a:extLst>
        </p:cNvPr>
        <p:cNvGrpSpPr/>
        <p:nvPr/>
      </p:nvGrpSpPr>
      <p:grpSpPr>
        <a:xfrm>
          <a:off x="0" y="0"/>
          <a:ext cx="0" cy="0"/>
          <a:chOff x="0" y="0"/>
          <a:chExt cx="0" cy="0"/>
        </a:xfrm>
      </p:grpSpPr>
      <p:sp>
        <p:nvSpPr>
          <p:cNvPr id="130" name="Google Shape;130;p6">
            <a:extLst>
              <a:ext uri="{FF2B5EF4-FFF2-40B4-BE49-F238E27FC236}">
                <a16:creationId xmlns:a16="http://schemas.microsoft.com/office/drawing/2014/main" id="{D03BD3E4-BFEE-97E0-16A2-A71122F862D0}"/>
              </a:ext>
            </a:extLst>
          </p:cNvPr>
          <p:cNvSpPr txBox="1"/>
          <p:nvPr/>
        </p:nvSpPr>
        <p:spPr>
          <a:xfrm>
            <a:off x="2865520" y="658976"/>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How We Often Draw This</a:t>
            </a:r>
            <a:endParaRPr dirty="0"/>
          </a:p>
        </p:txBody>
      </p:sp>
      <p:sp>
        <p:nvSpPr>
          <p:cNvPr id="131" name="Google Shape;131;p6">
            <a:extLst>
              <a:ext uri="{FF2B5EF4-FFF2-40B4-BE49-F238E27FC236}">
                <a16:creationId xmlns:a16="http://schemas.microsoft.com/office/drawing/2014/main" id="{7EBB4106-1C15-8728-9881-2C9ABA583BFE}"/>
              </a:ext>
            </a:extLst>
          </p:cNvPr>
          <p:cNvSpPr txBox="1"/>
          <p:nvPr/>
        </p:nvSpPr>
        <p:spPr>
          <a:xfrm>
            <a:off x="890337" y="1940249"/>
            <a:ext cx="10016362" cy="12311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Incorporating Memory into a NN</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We include a feedback loop, where output feeds back into the same layer alongside the next input in the sequence (each gets its own separate set of weights, and they are able to interact with one another.</a:t>
            </a:r>
            <a:endParaRPr dirty="0"/>
          </a:p>
        </p:txBody>
      </p:sp>
      <p:pic>
        <p:nvPicPr>
          <p:cNvPr id="132" name="Google Shape;132;p6">
            <a:extLst>
              <a:ext uri="{FF2B5EF4-FFF2-40B4-BE49-F238E27FC236}">
                <a16:creationId xmlns:a16="http://schemas.microsoft.com/office/drawing/2014/main" id="{862ADE8A-D83A-2238-6F57-5F178C8A7CEE}"/>
              </a:ext>
            </a:extLst>
          </p:cNvPr>
          <p:cNvPicPr preferRelativeResize="0"/>
          <p:nvPr/>
        </p:nvPicPr>
        <p:blipFill rotWithShape="1">
          <a:blip r:embed="rId3">
            <a:alphaModFix/>
          </a:blip>
          <a:srcRect/>
          <a:stretch/>
        </p:blipFill>
        <p:spPr>
          <a:xfrm>
            <a:off x="1511298" y="3541890"/>
            <a:ext cx="2463800" cy="2070100"/>
          </a:xfrm>
          <a:prstGeom prst="rect">
            <a:avLst/>
          </a:prstGeom>
          <a:noFill/>
          <a:ln>
            <a:noFill/>
          </a:ln>
        </p:spPr>
      </p:pic>
      <p:pic>
        <p:nvPicPr>
          <p:cNvPr id="133" name="Google Shape;133;p6">
            <a:extLst>
              <a:ext uri="{FF2B5EF4-FFF2-40B4-BE49-F238E27FC236}">
                <a16:creationId xmlns:a16="http://schemas.microsoft.com/office/drawing/2014/main" id="{A2683C18-D62F-389C-50F8-69B003E20ADB}"/>
              </a:ext>
            </a:extLst>
          </p:cNvPr>
          <p:cNvPicPr preferRelativeResize="0"/>
          <p:nvPr/>
        </p:nvPicPr>
        <p:blipFill rotWithShape="1">
          <a:blip r:embed="rId4">
            <a:alphaModFix/>
          </a:blip>
          <a:srcRect/>
          <a:stretch/>
        </p:blipFill>
        <p:spPr>
          <a:xfrm>
            <a:off x="5034844" y="4036293"/>
            <a:ext cx="6575776" cy="1198651"/>
          </a:xfrm>
          <a:prstGeom prst="rect">
            <a:avLst/>
          </a:prstGeom>
          <a:noFill/>
          <a:ln>
            <a:noFill/>
          </a:ln>
        </p:spPr>
      </p:pic>
    </p:spTree>
    <p:extLst>
      <p:ext uri="{BB962C8B-B14F-4D97-AF65-F5344CB8AC3E}">
        <p14:creationId xmlns:p14="http://schemas.microsoft.com/office/powerpoint/2010/main" val="378131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55062" y="658976"/>
            <a:ext cx="7881869" cy="923289"/>
          </a:xfrm>
          <a:prstGeom prst="rect">
            <a:avLst/>
          </a:prstGeom>
          <a:noFill/>
        </p:spPr>
        <p:txBody>
          <a:bodyPr wrap="square">
            <a:spAutoFit/>
          </a:bodyPr>
          <a:lstStyle/>
          <a:p>
            <a:r>
              <a:rPr sz="5400">
                <a:latin typeface="Economica"/>
              </a:rPr>
              <a:t>SimpleRNN: It's Just a Dense Layer</a:t>
            </a:r>
          </a:p>
        </p:txBody>
      </p:sp>
      <p:sp>
        <p:nvSpPr>
          <p:cNvPr id="3" name="TextBox 2"/>
          <p:cNvSpPr txBox="1"/>
          <p:nvPr/>
        </p:nvSpPr>
        <p:spPr>
          <a:xfrm>
            <a:off x="890337" y="1861226"/>
            <a:ext cx="10016362" cy="4500000"/>
          </a:xfrm>
          <a:prstGeom prst="rect">
            <a:avLst/>
          </a:prstGeom>
          <a:noFill/>
        </p:spPr>
        <p:txBody>
          <a:bodyPr wrap="square">
            <a:spAutoFit/>
          </a:bodyPr>
          <a:lstStyle/>
          <a:p>
            <a:r>
              <a:rPr sz="2000" b="1">
                <a:latin typeface="Quicksand"/>
              </a:rPr>
              <a:t>The Update Rule at Each Time Step t</a:t>
            </a:r>
          </a:p>
          <a:p>
            <a:pPr>
              <a:spcBef>
                <a:spcPts val="944"/>
              </a:spcBef>
              <a:spcAft>
                <a:spcPts val="944"/>
              </a:spcAft>
            </a:pPr>
            <a:r>
              <a:rPr sz="2204" b="1">
                <a:solidFill>
                  <a:srgbClr val="1A478A"/>
                </a:solidFill>
                <a:latin typeface="Consolas"/>
              </a:rPr>
              <a:t>h_t  =  tanh( W_x · x_t  +  W_h · h_{t−1}  +  b )</a:t>
            </a:r>
          </a:p>
          <a:p>
            <a:pPr>
              <a:spcBef>
                <a:spcPts val="472"/>
              </a:spcBef>
            </a:pPr>
            <a:r>
              <a:rPr sz="1800">
                <a:latin typeface="Calibri"/>
              </a:rPr>
              <a:t>x_t = the current input token (e.g., the t-th word embedding in a sentence).</a:t>
            </a:r>
          </a:p>
          <a:p>
            <a:pPr>
              <a:spcBef>
                <a:spcPts val="472"/>
              </a:spcBef>
            </a:pPr>
            <a:r>
              <a:rPr sz="1800">
                <a:latin typeface="Calibri"/>
              </a:rPr>
              <a:t>h_{t−1} = the hidden state from the previous step — the network's "memory" so far.</a:t>
            </a:r>
          </a:p>
          <a:p>
            <a:pPr>
              <a:spcBef>
                <a:spcPts val="472"/>
              </a:spcBef>
            </a:pPr>
            <a:r>
              <a:rPr sz="1800">
                <a:latin typeface="Calibri"/>
              </a:rPr>
              <a:t>W_x, W_h, b = shared weights and bias — the same parameters at every step.</a:t>
            </a:r>
          </a:p>
          <a:p>
            <a:pPr>
              <a:spcBef>
                <a:spcPts val="629"/>
              </a:spcBef>
            </a:pPr>
            <a:endParaRPr sz="1800">
              <a:latin typeface="Calibri"/>
            </a:endParaRPr>
          </a:p>
          <a:p>
            <a:r>
              <a:rPr sz="2000" b="1">
                <a:latin typeface="Quicksand"/>
              </a:rPr>
              <a:t>Why "just a Dense layer"?</a:t>
            </a:r>
          </a:p>
          <a:p>
            <a:pPr>
              <a:spcBef>
                <a:spcPts val="472"/>
              </a:spcBef>
            </a:pPr>
            <a:r>
              <a:rPr sz="1800">
                <a:latin typeface="Calibri"/>
              </a:rPr>
              <a:t>At t = 1, there is no memory yet (h_0 = 0), so the recurrent term vanishes:</a:t>
            </a:r>
          </a:p>
          <a:p>
            <a:pPr>
              <a:spcBef>
                <a:spcPts val="944"/>
              </a:spcBef>
              <a:spcAft>
                <a:spcPts val="944"/>
              </a:spcAft>
            </a:pPr>
            <a:r>
              <a:rPr sz="2204" b="1">
                <a:solidFill>
                  <a:srgbClr val="1A478A"/>
                </a:solidFill>
                <a:latin typeface="Consolas"/>
              </a:rPr>
              <a:t>h_1  =  tanh( W_x · x_1  +  b )</a:t>
            </a:r>
          </a:p>
          <a:p>
            <a:pPr>
              <a:spcBef>
                <a:spcPts val="472"/>
              </a:spcBef>
            </a:pPr>
            <a:r>
              <a:rPr sz="1800">
                <a:latin typeface="Calibri"/>
              </a:rPr>
              <a:t>This is identical to a single Dense layer with tanh activation. The recursion only kicks in at t ≥ 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55062" y="658976"/>
            <a:ext cx="7881869" cy="923289"/>
          </a:xfrm>
          <a:prstGeom prst="rect">
            <a:avLst/>
          </a:prstGeom>
          <a:noFill/>
        </p:spPr>
        <p:txBody>
          <a:bodyPr wrap="square">
            <a:spAutoFit/>
          </a:bodyPr>
          <a:lstStyle/>
          <a:p>
            <a:r>
              <a:rPr sz="5400">
                <a:latin typeface="Economica"/>
              </a:rPr>
              <a:t>Walking Through the Sequence</a:t>
            </a:r>
          </a:p>
        </p:txBody>
      </p:sp>
      <p:sp>
        <p:nvSpPr>
          <p:cNvPr id="3" name="TextBox 2"/>
          <p:cNvSpPr txBox="1"/>
          <p:nvPr/>
        </p:nvSpPr>
        <p:spPr>
          <a:xfrm>
            <a:off x="890337" y="1861226"/>
            <a:ext cx="10016362" cy="4500000"/>
          </a:xfrm>
          <a:prstGeom prst="rect">
            <a:avLst/>
          </a:prstGeom>
          <a:noFill/>
        </p:spPr>
        <p:txBody>
          <a:bodyPr wrap="square">
            <a:spAutoFit/>
          </a:bodyPr>
          <a:lstStyle/>
          <a:p>
            <a:r>
              <a:rPr sz="2000" b="1" dirty="0">
                <a:latin typeface="Quicksand"/>
              </a:rPr>
              <a:t>Token by Token, the Same Layer Runs Again and Again</a:t>
            </a:r>
          </a:p>
          <a:p>
            <a:pPr>
              <a:spcBef>
                <a:spcPts val="472"/>
              </a:spcBef>
            </a:pPr>
            <a:r>
              <a:rPr sz="1800" dirty="0">
                <a:latin typeface="Calibri"/>
              </a:rPr>
              <a:t>Step 1:  Read x_1 → h_1 = tanh(</a:t>
            </a:r>
            <a:r>
              <a:rPr sz="1800" dirty="0" err="1">
                <a:latin typeface="Calibri"/>
              </a:rPr>
              <a:t>W_x</a:t>
            </a:r>
            <a:r>
              <a:rPr sz="1800" dirty="0">
                <a:latin typeface="Calibri"/>
              </a:rPr>
              <a:t> · x_1 + b).  Just a Dense layer.</a:t>
            </a:r>
          </a:p>
          <a:p>
            <a:pPr>
              <a:spcBef>
                <a:spcPts val="472"/>
              </a:spcBef>
            </a:pPr>
            <a:r>
              <a:rPr sz="1800" dirty="0">
                <a:latin typeface="Calibri"/>
              </a:rPr>
              <a:t>Step 2:  Read x_2, feed back h_1 → h_2 = tanh(</a:t>
            </a:r>
            <a:r>
              <a:rPr sz="1800" dirty="0" err="1">
                <a:latin typeface="Calibri"/>
              </a:rPr>
              <a:t>W_x</a:t>
            </a:r>
            <a:r>
              <a:rPr sz="1800" dirty="0">
                <a:latin typeface="Calibri"/>
              </a:rPr>
              <a:t> · x_2 + </a:t>
            </a:r>
            <a:r>
              <a:rPr sz="1800" dirty="0" err="1">
                <a:latin typeface="Calibri"/>
              </a:rPr>
              <a:t>W_h</a:t>
            </a:r>
            <a:r>
              <a:rPr sz="1800" dirty="0">
                <a:latin typeface="Calibri"/>
              </a:rPr>
              <a:t> · h_1 + b).  Now h_2 "knows" x_1 and x_2.</a:t>
            </a:r>
          </a:p>
          <a:p>
            <a:pPr>
              <a:spcBef>
                <a:spcPts val="472"/>
              </a:spcBef>
            </a:pPr>
            <a:r>
              <a:rPr sz="1800" dirty="0">
                <a:latin typeface="Calibri"/>
              </a:rPr>
              <a:t>Step 3:  Read x_3, feed back h_2 → h_3 = tanh(</a:t>
            </a:r>
            <a:r>
              <a:rPr sz="1800" dirty="0" err="1">
                <a:latin typeface="Calibri"/>
              </a:rPr>
              <a:t>W_x</a:t>
            </a:r>
            <a:r>
              <a:rPr sz="1800" dirty="0">
                <a:latin typeface="Calibri"/>
              </a:rPr>
              <a:t> · x_3 + </a:t>
            </a:r>
            <a:r>
              <a:rPr sz="1800" dirty="0" err="1">
                <a:latin typeface="Calibri"/>
              </a:rPr>
              <a:t>W_h</a:t>
            </a:r>
            <a:r>
              <a:rPr sz="1800" dirty="0">
                <a:latin typeface="Calibri"/>
              </a:rPr>
              <a:t> · h_2 + b).  Now h_3 "knows" x_1, x_2, x_3.</a:t>
            </a:r>
          </a:p>
          <a:p>
            <a:pPr>
              <a:spcBef>
                <a:spcPts val="472"/>
              </a:spcBef>
            </a:pPr>
            <a:r>
              <a:rPr sz="1800" dirty="0">
                <a:latin typeface="Calibri"/>
              </a:rPr>
              <a:t>…and so on. After T tokens, </a:t>
            </a:r>
            <a:r>
              <a:rPr sz="1800" dirty="0" err="1">
                <a:latin typeface="Calibri"/>
              </a:rPr>
              <a:t>h_T</a:t>
            </a:r>
            <a:r>
              <a:rPr sz="1800" dirty="0">
                <a:latin typeface="Calibri"/>
              </a:rPr>
              <a:t> is a compressed summary of the entire input sequence.</a:t>
            </a:r>
          </a:p>
          <a:p>
            <a:pPr>
              <a:spcBef>
                <a:spcPts val="629"/>
              </a:spcBef>
            </a:pPr>
            <a:endParaRPr sz="1800" dirty="0">
              <a:latin typeface="Calibri"/>
            </a:endParaRPr>
          </a:p>
          <a:p>
            <a:r>
              <a:rPr sz="2000" b="1" dirty="0">
                <a:latin typeface="Quicksand"/>
              </a:rPr>
              <a:t>Key Insight</a:t>
            </a:r>
          </a:p>
          <a:p>
            <a:pPr>
              <a:spcBef>
                <a:spcPts val="472"/>
              </a:spcBef>
            </a:pPr>
            <a:r>
              <a:rPr sz="1800" dirty="0">
                <a:latin typeface="Calibri"/>
              </a:rPr>
              <a:t>The same weights </a:t>
            </a:r>
            <a:r>
              <a:rPr sz="1800" dirty="0" err="1">
                <a:latin typeface="Calibri"/>
              </a:rPr>
              <a:t>W_x</a:t>
            </a:r>
            <a:r>
              <a:rPr sz="1800" dirty="0">
                <a:latin typeface="Calibri"/>
              </a:rPr>
              <a:t>, </a:t>
            </a:r>
            <a:r>
              <a:rPr sz="1800" dirty="0" err="1">
                <a:latin typeface="Calibri"/>
              </a:rPr>
              <a:t>W_h</a:t>
            </a:r>
            <a:r>
              <a:rPr sz="1800" dirty="0">
                <a:latin typeface="Calibri"/>
              </a:rPr>
              <a:t>, b are reused at every step. The network can handle sequences of any length without adding parameters. If you "unroll" the loop, you get a deep feedforward network with shared (tied) weights.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55062" y="658976"/>
            <a:ext cx="7881869" cy="923289"/>
          </a:xfrm>
          <a:prstGeom prst="rect">
            <a:avLst/>
          </a:prstGeom>
          <a:noFill/>
        </p:spPr>
        <p:txBody>
          <a:bodyPr wrap="none">
            <a:spAutoFit/>
          </a:bodyPr>
          <a:lstStyle/>
          <a:p>
            <a:r>
              <a:rPr sz="5400">
                <a:latin typeface="Economica"/>
              </a:rPr>
              <a:t>Why Gradients Vanish (or Explode)</a:t>
            </a:r>
          </a:p>
        </p:txBody>
      </p:sp>
      <p:sp>
        <p:nvSpPr>
          <p:cNvPr id="3" name="TextBox 2"/>
          <p:cNvSpPr txBox="1"/>
          <p:nvPr/>
        </p:nvSpPr>
        <p:spPr>
          <a:xfrm>
            <a:off x="890337" y="1750000"/>
            <a:ext cx="10016362" cy="369332"/>
          </a:xfrm>
          <a:prstGeom prst="rect">
            <a:avLst/>
          </a:prstGeom>
          <a:noFill/>
        </p:spPr>
        <p:txBody>
          <a:bodyPr wrap="square">
            <a:spAutoFit/>
          </a:bodyPr>
          <a:lstStyle/>
          <a:p>
            <a:pPr algn="l"/>
            <a:r>
              <a:rPr sz="1800" dirty="0">
                <a:solidFill>
                  <a:srgbClr val="334155"/>
                </a:solidFill>
                <a:latin typeface="Calibri"/>
              </a:rPr>
              <a:t>Each </a:t>
            </a:r>
            <a:r>
              <a:rPr sz="1800" dirty="0" err="1">
                <a:solidFill>
                  <a:srgbClr val="334155"/>
                </a:solidFill>
                <a:latin typeface="Calibri"/>
              </a:rPr>
              <a:t>h_t</a:t>
            </a:r>
            <a:r>
              <a:rPr sz="1800" dirty="0">
                <a:solidFill>
                  <a:srgbClr val="334155"/>
                </a:solidFill>
                <a:latin typeface="Calibri"/>
              </a:rPr>
              <a:t> depends on h_{t−1}. By the chain rule, each backward step multiplies the gradient by:</a:t>
            </a:r>
          </a:p>
        </p:txBody>
      </p:sp>
      <p:sp>
        <p:nvSpPr>
          <p:cNvPr id="4" name="TextBox 3"/>
          <p:cNvSpPr txBox="1"/>
          <p:nvPr/>
        </p:nvSpPr>
        <p:spPr>
          <a:xfrm>
            <a:off x="3125963" y="2400000"/>
            <a:ext cx="5545108" cy="492443"/>
          </a:xfrm>
          <a:prstGeom prst="rect">
            <a:avLst/>
          </a:prstGeom>
          <a:noFill/>
        </p:spPr>
        <p:txBody>
          <a:bodyPr wrap="none">
            <a:spAutoFit/>
          </a:bodyPr>
          <a:lstStyle/>
          <a:p>
            <a:pPr algn="ctr"/>
            <a:r>
              <a:rPr sz="2600" b="1" dirty="0">
                <a:solidFill>
                  <a:srgbClr val="1A478A"/>
                </a:solidFill>
                <a:latin typeface="Consolas"/>
              </a:rPr>
              <a:t>∂</a:t>
            </a:r>
            <a:r>
              <a:rPr sz="2600" b="1" dirty="0" err="1">
                <a:solidFill>
                  <a:srgbClr val="1A478A"/>
                </a:solidFill>
                <a:latin typeface="Consolas"/>
              </a:rPr>
              <a:t>h</a:t>
            </a:r>
            <a:r>
              <a:rPr sz="2600" b="1" baseline="-25000" dirty="0" err="1">
                <a:solidFill>
                  <a:srgbClr val="1A478A"/>
                </a:solidFill>
                <a:latin typeface="Consolas"/>
              </a:rPr>
              <a:t>t</a:t>
            </a:r>
            <a:r>
              <a:rPr sz="2600" b="1" dirty="0">
                <a:solidFill>
                  <a:srgbClr val="1A478A"/>
                </a:solidFill>
                <a:latin typeface="Consolas"/>
              </a:rPr>
              <a:t> / ∂h</a:t>
            </a:r>
            <a:r>
              <a:rPr sz="2600" b="1" baseline="-25000" dirty="0">
                <a:solidFill>
                  <a:srgbClr val="1A478A"/>
                </a:solidFill>
                <a:latin typeface="Consolas"/>
              </a:rPr>
              <a:t>{t−1}</a:t>
            </a:r>
            <a:r>
              <a:rPr sz="2600" b="1" dirty="0">
                <a:solidFill>
                  <a:srgbClr val="1A478A"/>
                </a:solidFill>
                <a:latin typeface="Consolas"/>
              </a:rPr>
              <a:t>  =  tanh′(</a:t>
            </a:r>
            <a:r>
              <a:rPr sz="2600" b="1" dirty="0" err="1">
                <a:solidFill>
                  <a:srgbClr val="1A478A"/>
                </a:solidFill>
                <a:latin typeface="Consolas"/>
              </a:rPr>
              <a:t>z</a:t>
            </a:r>
            <a:r>
              <a:rPr sz="2600" b="1" baseline="-25000" dirty="0" err="1">
                <a:solidFill>
                  <a:srgbClr val="1A478A"/>
                </a:solidFill>
                <a:latin typeface="Consolas"/>
              </a:rPr>
              <a:t>t</a:t>
            </a:r>
            <a:r>
              <a:rPr sz="2600" b="1" dirty="0">
                <a:solidFill>
                  <a:srgbClr val="1A478A"/>
                </a:solidFill>
                <a:latin typeface="Consolas"/>
              </a:rPr>
              <a:t>) · </a:t>
            </a:r>
            <a:r>
              <a:rPr sz="2600" b="1" dirty="0" err="1">
                <a:solidFill>
                  <a:srgbClr val="1A478A"/>
                </a:solidFill>
                <a:latin typeface="Consolas"/>
              </a:rPr>
              <a:t>W</a:t>
            </a:r>
            <a:r>
              <a:rPr sz="2600" b="1" baseline="-25000" dirty="0" err="1">
                <a:solidFill>
                  <a:srgbClr val="1A478A"/>
                </a:solidFill>
                <a:latin typeface="Consolas"/>
              </a:rPr>
              <a:t>h</a:t>
            </a:r>
            <a:endParaRPr sz="2600" b="1" baseline="-25000" dirty="0">
              <a:solidFill>
                <a:srgbClr val="1A478A"/>
              </a:solidFill>
              <a:latin typeface="Consolas"/>
            </a:endParaRPr>
          </a:p>
        </p:txBody>
      </p:sp>
      <p:sp>
        <p:nvSpPr>
          <p:cNvPr id="5" name="TextBox 4"/>
          <p:cNvSpPr txBox="1"/>
          <p:nvPr/>
        </p:nvSpPr>
        <p:spPr>
          <a:xfrm>
            <a:off x="890337" y="2900000"/>
            <a:ext cx="10016362" cy="307777"/>
          </a:xfrm>
          <a:prstGeom prst="rect">
            <a:avLst/>
          </a:prstGeom>
          <a:noFill/>
        </p:spPr>
        <p:txBody>
          <a:bodyPr wrap="square">
            <a:spAutoFit/>
          </a:bodyPr>
          <a:lstStyle/>
          <a:p>
            <a:pPr algn="ctr"/>
            <a:r>
              <a:rPr lang="en-US" sz="1400" i="1" dirty="0">
                <a:solidFill>
                  <a:srgbClr val="64748B"/>
                </a:solidFill>
                <a:latin typeface="Calibri"/>
              </a:rPr>
              <a:t>Note: </a:t>
            </a:r>
            <a:r>
              <a:rPr sz="1400" i="1" dirty="0">
                <a:solidFill>
                  <a:srgbClr val="64748B"/>
                </a:solidFill>
                <a:latin typeface="Calibri"/>
              </a:rPr>
              <a:t>tanh′ is always between 0 and 1, so each step multiplies by </a:t>
            </a:r>
            <a:r>
              <a:rPr sz="1400" i="1" dirty="0" err="1">
                <a:solidFill>
                  <a:srgbClr val="64748B"/>
                </a:solidFill>
                <a:latin typeface="Calibri"/>
              </a:rPr>
              <a:t>W</a:t>
            </a:r>
            <a:r>
              <a:rPr sz="1400" i="1" baseline="-25000" dirty="0" err="1">
                <a:solidFill>
                  <a:srgbClr val="64748B"/>
                </a:solidFill>
                <a:latin typeface="Calibri"/>
              </a:rPr>
              <a:t>h</a:t>
            </a:r>
            <a:r>
              <a:rPr sz="1400" i="1" dirty="0">
                <a:solidFill>
                  <a:srgbClr val="64748B"/>
                </a:solidFill>
                <a:latin typeface="Calibri"/>
              </a:rPr>
              <a:t> or less</a:t>
            </a:r>
          </a:p>
        </p:txBody>
      </p:sp>
      <p:sp>
        <p:nvSpPr>
          <p:cNvPr id="15" name="Rounded Rectangle 14"/>
          <p:cNvSpPr/>
          <p:nvPr/>
        </p:nvSpPr>
        <p:spPr>
          <a:xfrm>
            <a:off x="2343954" y="3700000"/>
            <a:ext cx="3356045" cy="1800000"/>
          </a:xfrm>
          <a:prstGeom prst="roundRect">
            <a:avLst/>
          </a:prstGeom>
          <a:solidFill>
            <a:srgbClr val="FEF2F2"/>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dirty="0">
                <a:solidFill>
                  <a:srgbClr val="DC2626"/>
                </a:solidFill>
                <a:latin typeface="Quicksand"/>
              </a:rPr>
              <a:t>Vanishing Gradients</a:t>
            </a:r>
          </a:p>
          <a:p>
            <a:pPr algn="ctr"/>
            <a:r>
              <a:rPr sz="1400" dirty="0">
                <a:solidFill>
                  <a:srgbClr val="334155"/>
                </a:solidFill>
                <a:latin typeface="Calibri"/>
              </a:rPr>
              <a:t>If </a:t>
            </a:r>
            <a:r>
              <a:rPr sz="1400" dirty="0" err="1">
                <a:solidFill>
                  <a:srgbClr val="334155"/>
                </a:solidFill>
                <a:latin typeface="Calibri"/>
              </a:rPr>
              <a:t>W</a:t>
            </a:r>
            <a:r>
              <a:rPr sz="1400" baseline="-25000" dirty="0" err="1">
                <a:solidFill>
                  <a:srgbClr val="334155"/>
                </a:solidFill>
                <a:latin typeface="Calibri"/>
              </a:rPr>
              <a:t>h</a:t>
            </a:r>
            <a:r>
              <a:rPr sz="1400" dirty="0">
                <a:solidFill>
                  <a:srgbClr val="334155"/>
                </a:solidFill>
                <a:latin typeface="Calibri"/>
              </a:rPr>
              <a:t> </a:t>
            </a:r>
            <a:r>
              <a:rPr lang="en-US" sz="1400" dirty="0">
                <a:solidFill>
                  <a:srgbClr val="334155"/>
                </a:solidFill>
                <a:latin typeface="Calibri"/>
              </a:rPr>
              <a:t>is fractional it shrinks gradients</a:t>
            </a:r>
            <a:r>
              <a:rPr sz="1400" dirty="0">
                <a:solidFill>
                  <a:srgbClr val="334155"/>
                </a:solidFill>
                <a:latin typeface="Calibri"/>
              </a:rPr>
              <a:t>:</a:t>
            </a:r>
          </a:p>
          <a:p>
            <a:pPr algn="ctr"/>
            <a:r>
              <a:rPr sz="2200" b="1" dirty="0">
                <a:solidFill>
                  <a:srgbClr val="DC2626"/>
                </a:solidFill>
                <a:latin typeface="Consolas"/>
              </a:rPr>
              <a:t>0.9⁵⁰ ≈ 0.005</a:t>
            </a:r>
          </a:p>
          <a:p>
            <a:pPr algn="ctr"/>
            <a:r>
              <a:rPr sz="1300" dirty="0">
                <a:solidFill>
                  <a:srgbClr val="64748B"/>
                </a:solidFill>
                <a:latin typeface="Calibri"/>
              </a:rPr>
              <a:t>Gradient ≈ zero after ~50 steps.
Model forgets early tokens.</a:t>
            </a:r>
          </a:p>
        </p:txBody>
      </p:sp>
      <p:sp>
        <p:nvSpPr>
          <p:cNvPr id="16" name="Rounded Rectangle 15"/>
          <p:cNvSpPr/>
          <p:nvPr/>
        </p:nvSpPr>
        <p:spPr>
          <a:xfrm>
            <a:off x="6095996" y="3716637"/>
            <a:ext cx="3356045" cy="1800000"/>
          </a:xfrm>
          <a:prstGeom prst="roundRect">
            <a:avLst/>
          </a:prstGeom>
          <a:solidFill>
            <a:srgbClr val="FFFBEB"/>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dirty="0">
                <a:solidFill>
                  <a:srgbClr val="D97706"/>
                </a:solidFill>
                <a:latin typeface="Quicksand"/>
              </a:rPr>
              <a:t>Exploding Gradients</a:t>
            </a:r>
          </a:p>
          <a:p>
            <a:pPr algn="ctr"/>
            <a:r>
              <a:rPr sz="1400" dirty="0">
                <a:solidFill>
                  <a:srgbClr val="334155"/>
                </a:solidFill>
                <a:latin typeface="Calibri"/>
              </a:rPr>
              <a:t>If </a:t>
            </a:r>
            <a:r>
              <a:rPr sz="1400" dirty="0" err="1">
                <a:solidFill>
                  <a:srgbClr val="334155"/>
                </a:solidFill>
                <a:latin typeface="Calibri"/>
              </a:rPr>
              <a:t>W</a:t>
            </a:r>
            <a:r>
              <a:rPr sz="1400" baseline="-25000" dirty="0" err="1">
                <a:solidFill>
                  <a:srgbClr val="334155"/>
                </a:solidFill>
                <a:latin typeface="Calibri"/>
              </a:rPr>
              <a:t>h</a:t>
            </a:r>
            <a:r>
              <a:rPr sz="1400" dirty="0">
                <a:solidFill>
                  <a:srgbClr val="334155"/>
                </a:solidFill>
                <a:latin typeface="Calibri"/>
              </a:rPr>
              <a:t> </a:t>
            </a:r>
            <a:r>
              <a:rPr lang="en-US" sz="1400" dirty="0">
                <a:solidFill>
                  <a:srgbClr val="334155"/>
                </a:solidFill>
                <a:latin typeface="Calibri"/>
              </a:rPr>
              <a:t>is &gt; 1 it amplifies gradients</a:t>
            </a:r>
            <a:r>
              <a:rPr sz="1400" dirty="0">
                <a:solidFill>
                  <a:srgbClr val="334155"/>
                </a:solidFill>
                <a:latin typeface="Calibri"/>
              </a:rPr>
              <a:t>:</a:t>
            </a:r>
          </a:p>
          <a:p>
            <a:pPr algn="ctr"/>
            <a:r>
              <a:rPr sz="2200" b="1" dirty="0">
                <a:solidFill>
                  <a:srgbClr val="D97706"/>
                </a:solidFill>
                <a:latin typeface="Consolas"/>
              </a:rPr>
              <a:t>1.1⁵⁰ ≈ 117</a:t>
            </a:r>
          </a:p>
          <a:p>
            <a:pPr algn="ctr"/>
            <a:r>
              <a:rPr sz="1300" dirty="0">
                <a:solidFill>
                  <a:srgbClr val="64748B"/>
                </a:solidFill>
                <a:latin typeface="Calibri"/>
              </a:rPr>
              <a:t>Gradients blow up.
Training becomes unstable.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8"/>
          <p:cNvSpPr txBox="1"/>
          <p:nvPr/>
        </p:nvSpPr>
        <p:spPr>
          <a:xfrm>
            <a:off x="2314964" y="620339"/>
            <a:ext cx="7562071"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Long Short-Term Memory (LSTM)</a:t>
            </a:r>
            <a:endParaRPr dirty="0"/>
          </a:p>
        </p:txBody>
      </p:sp>
      <p:sp>
        <p:nvSpPr>
          <p:cNvPr id="146" name="Google Shape;146;p8"/>
          <p:cNvSpPr txBox="1"/>
          <p:nvPr/>
        </p:nvSpPr>
        <p:spPr>
          <a:xfrm>
            <a:off x="890337" y="1861226"/>
            <a:ext cx="10016362" cy="1477287"/>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Addresses vanishing gradient problem with a “carry track” – an additional skip / residual connection that combines output at step t, inputs at step t, and the last carry track’s output. </a:t>
            </a:r>
          </a:p>
          <a:p>
            <a:pPr marL="285750" lvl="0" indent="-285750">
              <a:buClr>
                <a:schemeClr val="dk1"/>
              </a:buClr>
              <a:buSzPts val="1800"/>
              <a:buFont typeface="Arial"/>
              <a:buChar char="•"/>
            </a:pPr>
            <a:r>
              <a:rPr lang="en-US" sz="1800" dirty="0">
                <a:solidFill>
                  <a:schemeClr val="dk1"/>
                </a:solidFill>
                <a:latin typeface="Calibri"/>
                <a:ea typeface="Calibri"/>
                <a:cs typeface="Calibri"/>
                <a:sym typeface="Calibri"/>
              </a:rPr>
              <a:t>The topology means your network can ‘learn’ to use these connections as passthroughs for old info, or it can learn to ‘block’ that information in favor of more recent information (whatever is helpful for accurate prediction).</a:t>
            </a:r>
            <a:endParaRPr dirty="0"/>
          </a:p>
        </p:txBody>
      </p:sp>
      <p:pic>
        <p:nvPicPr>
          <p:cNvPr id="147" name="Google Shape;147;p8" descr="Illustrated Guide to LSTM&amp;#39;s and GRU&amp;#39;s: A step by step explanation | by  Michael Phi | Towards Data Science"/>
          <p:cNvPicPr preferRelativeResize="0"/>
          <p:nvPr/>
        </p:nvPicPr>
        <p:blipFill rotWithShape="1">
          <a:blip r:embed="rId3">
            <a:alphaModFix/>
          </a:blip>
          <a:srcRect r="50000" b="31032"/>
          <a:stretch/>
        </p:blipFill>
        <p:spPr>
          <a:xfrm>
            <a:off x="2203875" y="3783713"/>
            <a:ext cx="3182095" cy="2790952"/>
          </a:xfrm>
          <a:prstGeom prst="rect">
            <a:avLst/>
          </a:prstGeom>
          <a:noFill/>
          <a:ln>
            <a:noFill/>
          </a:ln>
        </p:spPr>
      </p:pic>
      <p:pic>
        <p:nvPicPr>
          <p:cNvPr id="148" name="Google Shape;148;p8" descr="Illustrated Guide to LSTM&amp;#39;s and GRU&amp;#39;s: A step by step explanation | by  Michael Phi | Towards Data Science"/>
          <p:cNvPicPr preferRelativeResize="0"/>
          <p:nvPr/>
        </p:nvPicPr>
        <p:blipFill rotWithShape="1">
          <a:blip r:embed="rId3">
            <a:alphaModFix/>
          </a:blip>
          <a:srcRect t="69967" r="-12" b="-750"/>
          <a:stretch/>
        </p:blipFill>
        <p:spPr>
          <a:xfrm>
            <a:off x="5592918" y="4367910"/>
            <a:ext cx="5919913" cy="115865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9"/>
          <p:cNvSpPr txBox="1"/>
          <p:nvPr/>
        </p:nvSpPr>
        <p:spPr>
          <a:xfrm>
            <a:off x="2865520" y="658976"/>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Keras RNN Layers</a:t>
            </a:r>
            <a:endParaRPr/>
          </a:p>
        </p:txBody>
      </p:sp>
      <p:sp>
        <p:nvSpPr>
          <p:cNvPr id="161" name="Google Shape;161;p9"/>
          <p:cNvSpPr txBox="1"/>
          <p:nvPr/>
        </p:nvSpPr>
        <p:spPr>
          <a:xfrm>
            <a:off x="890337" y="1861226"/>
            <a:ext cx="10016362"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Quicksand"/>
                <a:ea typeface="Quicksand"/>
                <a:cs typeface="Quicksand"/>
                <a:sym typeface="Quicksand"/>
              </a:rPr>
              <a:t>Long Short-Term Memory (LSTM)</a:t>
            </a:r>
            <a:endParaRPr/>
          </a:p>
        </p:txBody>
      </p:sp>
      <p:pic>
        <p:nvPicPr>
          <p:cNvPr id="162" name="Google Shape;162;p9"/>
          <p:cNvPicPr preferRelativeResize="0"/>
          <p:nvPr/>
        </p:nvPicPr>
        <p:blipFill rotWithShape="1">
          <a:blip r:embed="rId3">
            <a:alphaModFix/>
          </a:blip>
          <a:srcRect/>
          <a:stretch/>
        </p:blipFill>
        <p:spPr>
          <a:xfrm>
            <a:off x="2127248" y="2540256"/>
            <a:ext cx="7937500" cy="3416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0"/>
          <p:cNvSpPr txBox="1"/>
          <p:nvPr/>
        </p:nvSpPr>
        <p:spPr>
          <a:xfrm>
            <a:off x="2865520" y="658976"/>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Keras RNN Layers</a:t>
            </a:r>
            <a:endParaRPr/>
          </a:p>
        </p:txBody>
      </p:sp>
      <p:sp>
        <p:nvSpPr>
          <p:cNvPr id="168" name="Google Shape;168;p10"/>
          <p:cNvSpPr txBox="1"/>
          <p:nvPr/>
        </p:nvSpPr>
        <p:spPr>
          <a:xfrm>
            <a:off x="890337" y="1861226"/>
            <a:ext cx="10016362" cy="15081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Quicksand"/>
                <a:ea typeface="Quicksand"/>
                <a:cs typeface="Quicksand"/>
                <a:sym typeface="Quicksand"/>
              </a:rPr>
              <a:t>Gated Recurrent Unit (GRU)</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Less complex than an LSTM. Combines elements of the LSTM into simpler gated structure.</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Fits more quickly, with less data, but memory tends to be shorter.</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More common in NLP tasks, e.g., because “within sentence” or “within paragraph” memory is often sufficient.</a:t>
            </a:r>
            <a:endParaRPr/>
          </a:p>
        </p:txBody>
      </p:sp>
      <p:pic>
        <p:nvPicPr>
          <p:cNvPr id="169" name="Google Shape;169;p10" descr="Illustrated Guide to LSTM&amp;#39;s and GRU&amp;#39;s: A step by step explanation | by  Michael Phi | Towards Data Science"/>
          <p:cNvPicPr preferRelativeResize="0"/>
          <p:nvPr/>
        </p:nvPicPr>
        <p:blipFill rotWithShape="1">
          <a:blip r:embed="rId3">
            <a:alphaModFix/>
          </a:blip>
          <a:srcRect l="55149" t="750" r="-12" b="32032"/>
          <a:stretch/>
        </p:blipFill>
        <p:spPr>
          <a:xfrm>
            <a:off x="1643692" y="3488670"/>
            <a:ext cx="3206663" cy="3055012"/>
          </a:xfrm>
          <a:prstGeom prst="rect">
            <a:avLst/>
          </a:prstGeom>
          <a:noFill/>
          <a:ln>
            <a:noFill/>
          </a:ln>
        </p:spPr>
      </p:pic>
      <p:pic>
        <p:nvPicPr>
          <p:cNvPr id="170" name="Google Shape;170;p10" descr="Illustrated Guide to LSTM&amp;#39;s and GRU&amp;#39;s: A step by step explanation | by  Michael Phi | Towards Data Science"/>
          <p:cNvPicPr preferRelativeResize="0"/>
          <p:nvPr/>
        </p:nvPicPr>
        <p:blipFill rotWithShape="1">
          <a:blip r:embed="rId3">
            <a:alphaModFix/>
          </a:blip>
          <a:srcRect t="69967" r="-12" b="-750"/>
          <a:stretch/>
        </p:blipFill>
        <p:spPr>
          <a:xfrm>
            <a:off x="5303407" y="3968011"/>
            <a:ext cx="5919913" cy="115865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2"/>
          <p:cNvSpPr txBox="1"/>
          <p:nvPr/>
        </p:nvSpPr>
        <p:spPr>
          <a:xfrm>
            <a:off x="2865520" y="658976"/>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Stacking RNN Layers</a:t>
            </a:r>
            <a:endParaRPr/>
          </a:p>
        </p:txBody>
      </p:sp>
      <p:sp>
        <p:nvSpPr>
          <p:cNvPr id="183" name="Google Shape;183;p12"/>
          <p:cNvSpPr txBox="1"/>
          <p:nvPr/>
        </p:nvSpPr>
        <p:spPr>
          <a:xfrm>
            <a:off x="890337" y="1861226"/>
            <a:ext cx="10016362"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Quicksand"/>
                <a:ea typeface="Quicksand"/>
                <a:cs typeface="Quicksand"/>
                <a:sym typeface="Quicksand"/>
              </a:rPr>
              <a:t>Stacked Layers (LSTM or GRUs)</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Same as other ‘layer’ types, but we need to pass the entire sequence of outputs (not just the last output). We do this with the ‘return_sequences=True’ argument to the layer.</a:t>
            </a:r>
            <a:endParaRPr/>
          </a:p>
        </p:txBody>
      </p:sp>
      <p:pic>
        <p:nvPicPr>
          <p:cNvPr id="184" name="Google Shape;184;p12"/>
          <p:cNvPicPr preferRelativeResize="0"/>
          <p:nvPr/>
        </p:nvPicPr>
        <p:blipFill rotWithShape="1">
          <a:blip r:embed="rId3">
            <a:alphaModFix/>
          </a:blip>
          <a:srcRect/>
          <a:stretch/>
        </p:blipFill>
        <p:spPr>
          <a:xfrm>
            <a:off x="1924048" y="3429000"/>
            <a:ext cx="8343900" cy="1778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3"/>
          <p:cNvSpPr txBox="1"/>
          <p:nvPr/>
        </p:nvSpPr>
        <p:spPr>
          <a:xfrm>
            <a:off x="2865520" y="658976"/>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Bidirectional RNNs</a:t>
            </a:r>
            <a:endParaRPr/>
          </a:p>
        </p:txBody>
      </p:sp>
      <p:sp>
        <p:nvSpPr>
          <p:cNvPr id="190" name="Google Shape;190;p13"/>
          <p:cNvSpPr txBox="1"/>
          <p:nvPr/>
        </p:nvSpPr>
        <p:spPr>
          <a:xfrm>
            <a:off x="890337" y="1861226"/>
            <a:ext cx="10016362" cy="12311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Quicksand"/>
                <a:ea typeface="Quicksand"/>
                <a:cs typeface="Quicksand"/>
                <a:sym typeface="Quicksand"/>
              </a:rPr>
              <a:t>Some Sequences Yield Information in Both Directions</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Consider that, in language, words that come later in a sentence can be predictive of what came before.</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Bidirectional RNNs implement a standard RNN, but they also incorporate a parallel layer implementation that takes the sequence ordered in reverse. </a:t>
            </a:r>
            <a:endParaRPr/>
          </a:p>
        </p:txBody>
      </p:sp>
      <p:pic>
        <p:nvPicPr>
          <p:cNvPr id="191" name="Google Shape;191;p13"/>
          <p:cNvPicPr preferRelativeResize="0"/>
          <p:nvPr/>
        </p:nvPicPr>
        <p:blipFill rotWithShape="1">
          <a:blip r:embed="rId3">
            <a:alphaModFix/>
          </a:blip>
          <a:srcRect/>
          <a:stretch/>
        </p:blipFill>
        <p:spPr>
          <a:xfrm>
            <a:off x="4489451" y="3429000"/>
            <a:ext cx="3213098" cy="283448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D40B34E7-16E6-40DF-5EA5-EF4F92F00833}"/>
            </a:ext>
          </a:extLst>
        </p:cNvPr>
        <p:cNvGrpSpPr/>
        <p:nvPr/>
      </p:nvGrpSpPr>
      <p:grpSpPr>
        <a:xfrm>
          <a:off x="0" y="0"/>
          <a:ext cx="0" cy="0"/>
          <a:chOff x="0" y="0"/>
          <a:chExt cx="0" cy="0"/>
        </a:xfrm>
      </p:grpSpPr>
      <p:sp>
        <p:nvSpPr>
          <p:cNvPr id="189" name="Google Shape;189;p13">
            <a:extLst>
              <a:ext uri="{FF2B5EF4-FFF2-40B4-BE49-F238E27FC236}">
                <a16:creationId xmlns:a16="http://schemas.microsoft.com/office/drawing/2014/main" id="{FDBE9820-4FA3-4114-D296-240538D39B6F}"/>
              </a:ext>
            </a:extLst>
          </p:cNvPr>
          <p:cNvSpPr txBox="1"/>
          <p:nvPr/>
        </p:nvSpPr>
        <p:spPr>
          <a:xfrm>
            <a:off x="2238777" y="657206"/>
            <a:ext cx="7714446"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Why Do We Need RNNs Though?</a:t>
            </a:r>
            <a:endParaRPr dirty="0"/>
          </a:p>
        </p:txBody>
      </p:sp>
      <p:sp>
        <p:nvSpPr>
          <p:cNvPr id="190" name="Google Shape;190;p13">
            <a:extLst>
              <a:ext uri="{FF2B5EF4-FFF2-40B4-BE49-F238E27FC236}">
                <a16:creationId xmlns:a16="http://schemas.microsoft.com/office/drawing/2014/main" id="{61610DB7-5F72-2E88-8A84-5EC038FC1A7F}"/>
              </a:ext>
            </a:extLst>
          </p:cNvPr>
          <p:cNvSpPr txBox="1"/>
          <p:nvPr/>
        </p:nvSpPr>
        <p:spPr>
          <a:xfrm>
            <a:off x="890337" y="1861226"/>
            <a:ext cx="10016362" cy="39702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sym typeface="Quicksand"/>
              </a:rPr>
              <a:t>Some Notable Differences Between RNNs and Transformers</a:t>
            </a:r>
            <a:endParaRPr dirty="0"/>
          </a:p>
          <a:p>
            <a:pPr marL="285750" lvl="0" indent="-285750">
              <a:buClr>
                <a:schemeClr val="dk1"/>
              </a:buClr>
              <a:buSzPts val="1800"/>
              <a:buFont typeface="Arial"/>
              <a:buChar char="•"/>
            </a:pPr>
            <a:r>
              <a:rPr lang="en-US" sz="1800" dirty="0">
                <a:solidFill>
                  <a:schemeClr val="dk1"/>
                </a:solidFill>
                <a:latin typeface="Calibri"/>
                <a:ea typeface="Calibri"/>
                <a:cs typeface="Calibri"/>
                <a:sym typeface="Calibri"/>
              </a:rPr>
              <a:t>RNNs can stream output immediately, as the input arrives, whereas a vanilla transformer needs to see the full context/sequence before producing output. </a:t>
            </a:r>
          </a:p>
          <a:p>
            <a:pPr marL="285750" lvl="0" indent="-285750">
              <a:buClr>
                <a:schemeClr val="dk1"/>
              </a:buClr>
              <a:buSzPts val="1800"/>
              <a:buFont typeface="Arial"/>
              <a:buChar char="•"/>
            </a:pPr>
            <a:r>
              <a:rPr lang="en-US" sz="1800" dirty="0">
                <a:solidFill>
                  <a:schemeClr val="dk1"/>
                </a:solidFill>
                <a:latin typeface="Calibri"/>
                <a:cs typeface="Calibri"/>
                <a:sym typeface="Calibri"/>
              </a:rPr>
              <a:t>Transformers tend to be larger neural networks, with more parameters (they excel when they are big).</a:t>
            </a:r>
          </a:p>
          <a:p>
            <a:pPr marL="285750" lvl="0" indent="-285750">
              <a:buClr>
                <a:schemeClr val="dk1"/>
              </a:buClr>
              <a:buSzPts val="1800"/>
              <a:buFont typeface="Arial"/>
              <a:buChar char="•"/>
            </a:pPr>
            <a:endParaRPr lang="en-US" sz="1800" dirty="0">
              <a:solidFill>
                <a:schemeClr val="dk1"/>
              </a:solidFill>
              <a:latin typeface="Calibri"/>
              <a:cs typeface="Calibri"/>
              <a:sym typeface="Calibri"/>
            </a:endParaRPr>
          </a:p>
          <a:p>
            <a:pPr>
              <a:buClr>
                <a:schemeClr val="dk1"/>
              </a:buClr>
              <a:buSzPts val="1800"/>
            </a:pPr>
            <a:r>
              <a:rPr lang="en-US" sz="2000" b="1" dirty="0">
                <a:solidFill>
                  <a:schemeClr val="dk1"/>
                </a:solidFill>
                <a:latin typeface="Quicksand"/>
                <a:sym typeface="Quicksand"/>
              </a:rPr>
              <a:t>Where RNNs Excel</a:t>
            </a:r>
            <a:endParaRPr lang="en-US" sz="2000" dirty="0"/>
          </a:p>
          <a:p>
            <a:pPr marL="285750" lvl="0" indent="-285750">
              <a:buClr>
                <a:schemeClr val="dk1"/>
              </a:buClr>
              <a:buSzPts val="1800"/>
              <a:buFont typeface="Arial"/>
              <a:buChar char="•"/>
            </a:pPr>
            <a:r>
              <a:rPr lang="en-US" sz="1800" dirty="0">
                <a:solidFill>
                  <a:schemeClr val="dk1"/>
                </a:solidFill>
                <a:latin typeface="Calibri"/>
                <a:ea typeface="Calibri"/>
                <a:cs typeface="Calibri"/>
                <a:sym typeface="Calibri"/>
              </a:rPr>
              <a:t>Latency! If I need to stream real-time audio (e.g., hearing aids) or real-time closed captions, or robotics applications, etc., then delays are the enemy. </a:t>
            </a:r>
          </a:p>
          <a:p>
            <a:pPr marL="285750" lvl="0" indent="-285750">
              <a:buClr>
                <a:schemeClr val="dk1"/>
              </a:buClr>
              <a:buSzPts val="1800"/>
              <a:buFont typeface="Arial"/>
              <a:buChar char="•"/>
            </a:pPr>
            <a:r>
              <a:rPr lang="en-US" sz="1800" dirty="0">
                <a:solidFill>
                  <a:schemeClr val="dk1"/>
                </a:solidFill>
                <a:latin typeface="Calibri"/>
                <a:cs typeface="Calibri"/>
                <a:sym typeface="Calibri"/>
              </a:rPr>
              <a:t>Edge devices! If I need the ability to use one of these models on-device (e.g., somewhere that lacks internet, or that is privacy sensitive) then it’s hard to host a large neural network that has high inference time/costs. </a:t>
            </a:r>
          </a:p>
          <a:p>
            <a:pPr marL="285750" lvl="0" indent="-285750">
              <a:buClr>
                <a:schemeClr val="dk1"/>
              </a:buClr>
              <a:buSzPts val="1800"/>
              <a:buFont typeface="Arial"/>
              <a:buChar char="•"/>
            </a:pPr>
            <a:r>
              <a:rPr lang="en-US" sz="1800" dirty="0">
                <a:solidFill>
                  <a:schemeClr val="dk1"/>
                </a:solidFill>
                <a:latin typeface="Calibri"/>
                <a:cs typeface="Calibri"/>
                <a:sym typeface="Calibri"/>
              </a:rPr>
              <a:t>RNNs have fixed weight matrices that are shared across tokens in the sequence; Transformers require bigger attention matrices as sequence lengths grow.</a:t>
            </a:r>
          </a:p>
          <a:p>
            <a:pPr lvl="0">
              <a:buClr>
                <a:schemeClr val="dk1"/>
              </a:buClr>
              <a:buSzPts val="1800"/>
            </a:pPr>
            <a:endParaRPr dirty="0"/>
          </a:p>
        </p:txBody>
      </p:sp>
    </p:spTree>
    <p:extLst>
      <p:ext uri="{BB962C8B-B14F-4D97-AF65-F5344CB8AC3E}">
        <p14:creationId xmlns:p14="http://schemas.microsoft.com/office/powerpoint/2010/main" val="20167388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31"/>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Embedding Layer</a:t>
            </a:r>
            <a:endParaRPr sz="1400" b="0" i="0" u="none" strike="noStrike" cap="none">
              <a:solidFill>
                <a:srgbClr val="000000"/>
              </a:solidFill>
              <a:latin typeface="Arial"/>
              <a:ea typeface="Arial"/>
              <a:cs typeface="Arial"/>
              <a:sym typeface="Arial"/>
            </a:endParaRPr>
          </a:p>
        </p:txBody>
      </p:sp>
      <p:sp>
        <p:nvSpPr>
          <p:cNvPr id="153" name="Google Shape;153;p31"/>
          <p:cNvSpPr txBox="1"/>
          <p:nvPr/>
        </p:nvSpPr>
        <p:spPr>
          <a:xfrm>
            <a:off x="1049123" y="1984024"/>
            <a:ext cx="10665900" cy="4402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With Hot Encodings, Model Will Still Struggle to Figure </a:t>
            </a:r>
            <a:br>
              <a:rPr lang="en-US" sz="2000" b="1" i="0" u="none" strike="noStrike" cap="none">
                <a:solidFill>
                  <a:schemeClr val="dk1"/>
                </a:solidFill>
                <a:latin typeface="Quicksand"/>
                <a:ea typeface="Quicksand"/>
                <a:cs typeface="Quicksand"/>
                <a:sym typeface="Quicksand"/>
              </a:rPr>
            </a:br>
            <a:r>
              <a:rPr lang="en-US" sz="2000" b="1" i="0" u="none" strike="noStrike" cap="none">
                <a:solidFill>
                  <a:schemeClr val="dk1"/>
                </a:solidFill>
                <a:latin typeface="Quicksand"/>
                <a:ea typeface="Quicksand"/>
                <a:cs typeface="Quicksand"/>
                <a:sym typeface="Quicksand"/>
              </a:rPr>
              <a:t>Out Semantics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Despite having sequence, the model is “told” that the tokens are orthogonal / independent of one another in their meanings. But that’s not true!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Textual Embedding Layer First Provides Dimensionality Reduction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Represent words into a lower dimensional space – similar vector = similar meaning.</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The Embedding layer is a lookup table that maps tokens to vectors. For each token in the vocabulary, the network learns a vector representation. The vectors are initially random, and the network updates them in training to learn representations that help in prediction (just like with convolution filters!).</a:t>
            </a:r>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In practice, it is learning semantic relationships… </a:t>
            </a:r>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This is much better for an RNN than a hot encoding,</a:t>
            </a:r>
            <a:br>
              <a:rPr lang="en-US" sz="2000" b="0" i="0" u="none" strike="noStrike" cap="none">
                <a:solidFill>
                  <a:schemeClr val="dk1"/>
                </a:solidFill>
                <a:latin typeface="Quicksand"/>
                <a:ea typeface="Quicksand"/>
                <a:cs typeface="Quicksand"/>
                <a:sym typeface="Quicksand"/>
              </a:rPr>
            </a:br>
            <a:r>
              <a:rPr lang="en-US" sz="2000" b="0" i="0" u="none" strike="noStrike" cap="none">
                <a:solidFill>
                  <a:schemeClr val="dk1"/>
                </a:solidFill>
                <a:latin typeface="Quicksand"/>
                <a:ea typeface="Quicksand"/>
                <a:cs typeface="Quicksand"/>
                <a:sym typeface="Quicksand"/>
              </a:rPr>
              <a:t>because 120 values (for example) is &lt;&lt; 20,000!</a:t>
            </a:r>
            <a:endParaRPr sz="1400" b="0" i="0" u="none" strike="noStrike" cap="none">
              <a:solidFill>
                <a:srgbClr val="000000"/>
              </a:solidFill>
              <a:latin typeface="Arial"/>
              <a:ea typeface="Arial"/>
              <a:cs typeface="Arial"/>
              <a:sym typeface="Arial"/>
            </a:endParaRPr>
          </a:p>
        </p:txBody>
      </p:sp>
      <p:pic>
        <p:nvPicPr>
          <p:cNvPr id="154" name="Google Shape;154;p31" descr="The amazing power of word vectors | the morning paper"/>
          <p:cNvPicPr preferRelativeResize="0"/>
          <p:nvPr/>
        </p:nvPicPr>
        <p:blipFill rotWithShape="1">
          <a:blip r:embed="rId3">
            <a:alphaModFix/>
          </a:blip>
          <a:srcRect/>
          <a:stretch/>
        </p:blipFill>
        <p:spPr>
          <a:xfrm>
            <a:off x="8319103" y="106252"/>
            <a:ext cx="3638750" cy="22147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0"/>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Pre-Trained Embeddings: Word2Vec</a:t>
            </a:r>
            <a:endParaRPr sz="1400" b="0" i="0" u="none" strike="noStrike" cap="none">
              <a:solidFill>
                <a:srgbClr val="000000"/>
              </a:solidFill>
              <a:latin typeface="Arial"/>
              <a:ea typeface="Arial"/>
              <a:cs typeface="Arial"/>
              <a:sym typeface="Arial"/>
            </a:endParaRPr>
          </a:p>
        </p:txBody>
      </p:sp>
      <p:sp>
        <p:nvSpPr>
          <p:cNvPr id="169" name="Google Shape;169;p10"/>
          <p:cNvSpPr txBox="1"/>
          <p:nvPr/>
        </p:nvSpPr>
        <p:spPr>
          <a:xfrm>
            <a:off x="772620" y="1950155"/>
            <a:ext cx="10093751"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Word2Vec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Two types: CBoW and Skipgram</a:t>
            </a:r>
            <a:endParaRPr sz="20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Construct training examples and labels.</a:t>
            </a:r>
            <a:endParaRPr sz="1400" b="0" i="0" u="none" strike="noStrike" cap="none">
              <a:solidFill>
                <a:srgbClr val="000000"/>
              </a:solidFill>
              <a:latin typeface="Arial"/>
              <a:ea typeface="Arial"/>
              <a:cs typeface="Arial"/>
              <a:sym typeface="Arial"/>
            </a:endParaRPr>
          </a:p>
        </p:txBody>
      </p:sp>
      <p:pic>
        <p:nvPicPr>
          <p:cNvPr id="170" name="Google Shape;170;p10"/>
          <p:cNvPicPr preferRelativeResize="0"/>
          <p:nvPr/>
        </p:nvPicPr>
        <p:blipFill rotWithShape="1">
          <a:blip r:embed="rId3">
            <a:alphaModFix/>
          </a:blip>
          <a:srcRect/>
          <a:stretch/>
        </p:blipFill>
        <p:spPr>
          <a:xfrm>
            <a:off x="772620" y="3352986"/>
            <a:ext cx="4415802" cy="2520315"/>
          </a:xfrm>
          <a:prstGeom prst="rect">
            <a:avLst/>
          </a:prstGeom>
          <a:noFill/>
          <a:ln>
            <a:noFill/>
          </a:ln>
        </p:spPr>
      </p:pic>
      <p:pic>
        <p:nvPicPr>
          <p:cNvPr id="171" name="Google Shape;171;p10"/>
          <p:cNvPicPr preferRelativeResize="0"/>
          <p:nvPr/>
        </p:nvPicPr>
        <p:blipFill rotWithShape="1">
          <a:blip r:embed="rId4">
            <a:alphaModFix/>
          </a:blip>
          <a:srcRect/>
          <a:stretch/>
        </p:blipFill>
        <p:spPr>
          <a:xfrm>
            <a:off x="5935006" y="2025940"/>
            <a:ext cx="5574686" cy="368630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1"/>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Pre-Trained Embeddings: Limitation</a:t>
            </a:r>
            <a:endParaRPr sz="1400" b="0" i="0" u="none" strike="noStrike" cap="none">
              <a:solidFill>
                <a:srgbClr val="000000"/>
              </a:solidFill>
              <a:latin typeface="Arial"/>
              <a:ea typeface="Arial"/>
              <a:cs typeface="Arial"/>
              <a:sym typeface="Arial"/>
            </a:endParaRPr>
          </a:p>
        </p:txBody>
      </p:sp>
      <p:sp>
        <p:nvSpPr>
          <p:cNvPr id="178" name="Google Shape;178;p11"/>
          <p:cNvSpPr txBox="1"/>
          <p:nvPr/>
        </p:nvSpPr>
        <p:spPr>
          <a:xfrm>
            <a:off x="772620" y="1950155"/>
            <a:ext cx="10093751" cy="31700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Out of Sample Words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Both GloVe and Word2Vec are limited to words you’ve seen before in training. They cannot handle new words. Those words thus get omitted / dropped, or you need to do something different. </a:t>
            </a:r>
            <a:endParaRPr sz="1400" b="0" i="0" u="none" strike="noStrike" cap="none">
              <a:solidFill>
                <a:srgbClr val="000000"/>
              </a:solidFill>
              <a:latin typeface="Arial"/>
              <a:ea typeface="Arial"/>
              <a:cs typeface="Arial"/>
              <a:sym typeface="Arial"/>
            </a:endParaRPr>
          </a:p>
          <a:p>
            <a:pPr marL="342900" marR="0" lvl="0" indent="-215900" algn="l" rtl="0">
              <a:lnSpc>
                <a:spcPct val="100000"/>
              </a:lnSpc>
              <a:spcBef>
                <a:spcPts val="0"/>
              </a:spcBef>
              <a:spcAft>
                <a:spcPts val="0"/>
              </a:spcAft>
              <a:buClr>
                <a:schemeClr val="dk1"/>
              </a:buClr>
              <a:buSzPts val="2000"/>
              <a:buFont typeface="Arial"/>
              <a:buNone/>
            </a:pPr>
            <a:endParaRPr sz="2000" b="0"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FastText</a:t>
            </a:r>
            <a:endParaRPr sz="2000" b="1"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An extension to Word2Vec which learns character n-grams of words. So, instead of embedding words, we embed portions of words (e.g., a 3-gram character representation would break up the word ‘coffee’ into ‘cof’, ‘off’, ‘ffe’, … and then learn vector embeddings of each. </a:t>
            </a:r>
            <a:endParaRPr sz="1400" b="0" i="0" u="none" strike="noStrike" cap="none">
              <a:solidFill>
                <a:srgbClr val="000000"/>
              </a:solidFill>
              <a:latin typeface="Arial"/>
              <a:ea typeface="Arial"/>
              <a:cs typeface="Arial"/>
              <a:sym typeface="Arial"/>
            </a:endParaRPr>
          </a:p>
        </p:txBody>
      </p:sp>
      <p:pic>
        <p:nvPicPr>
          <p:cNvPr id="179" name="Google Shape;179;p11" descr="A Visual Guide to FastText Word Embeddings"/>
          <p:cNvPicPr preferRelativeResize="0"/>
          <p:nvPr/>
        </p:nvPicPr>
        <p:blipFill rotWithShape="1">
          <a:blip r:embed="rId3">
            <a:alphaModFix/>
          </a:blip>
          <a:srcRect/>
          <a:stretch/>
        </p:blipFill>
        <p:spPr>
          <a:xfrm>
            <a:off x="4171602" y="5000195"/>
            <a:ext cx="3848796" cy="153060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AC9E9DA-D4F6-9705-0AEF-1FE0ABA95DA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pic>
        <p:nvPicPr>
          <p:cNvPr id="1026" name="Picture 2" descr="Using OpenCLIP for Image Search and Automatic Captioning | Towards Data  Science">
            <a:extLst>
              <a:ext uri="{FF2B5EF4-FFF2-40B4-BE49-F238E27FC236}">
                <a16:creationId xmlns:a16="http://schemas.microsoft.com/office/drawing/2014/main" id="{68F8BEA6-B369-4AAD-D337-0E2A657150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1178" y="1686489"/>
            <a:ext cx="7149644" cy="4669861"/>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83;p13">
            <a:extLst>
              <a:ext uri="{FF2B5EF4-FFF2-40B4-BE49-F238E27FC236}">
                <a16:creationId xmlns:a16="http://schemas.microsoft.com/office/drawing/2014/main" id="{46F4EBC6-9B27-D115-AB9A-BB26B9E3AE26}"/>
              </a:ext>
            </a:extLst>
          </p:cNvPr>
          <p:cNvSpPr txBox="1"/>
          <p:nvPr/>
        </p:nvSpPr>
        <p:spPr>
          <a:xfrm>
            <a:off x="729915" y="501650"/>
            <a:ext cx="10732169"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sym typeface="Economica"/>
              </a:rPr>
              <a:t>Contrastive Language-Image Pre-training (CLIP) </a:t>
            </a:r>
            <a:endParaRPr dirty="0"/>
          </a:p>
        </p:txBody>
      </p:sp>
    </p:spTree>
    <p:extLst>
      <p:ext uri="{BB962C8B-B14F-4D97-AF65-F5344CB8AC3E}">
        <p14:creationId xmlns:p14="http://schemas.microsoft.com/office/powerpoint/2010/main" val="4201923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EBB1A-0B89-65CA-C4DE-C2340E75BC29}"/>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AFBDE1C-7EBB-F7CB-C115-D504BDA8829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
        <p:nvSpPr>
          <p:cNvPr id="2" name="Google Shape;183;p13">
            <a:extLst>
              <a:ext uri="{FF2B5EF4-FFF2-40B4-BE49-F238E27FC236}">
                <a16:creationId xmlns:a16="http://schemas.microsoft.com/office/drawing/2014/main" id="{44E40ABA-8E5A-33C6-54D8-0A866AA0DB7F}"/>
              </a:ext>
            </a:extLst>
          </p:cNvPr>
          <p:cNvSpPr txBox="1"/>
          <p:nvPr/>
        </p:nvSpPr>
        <p:spPr>
          <a:xfrm>
            <a:off x="729915" y="501650"/>
            <a:ext cx="10732169"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sym typeface="Economica"/>
              </a:rPr>
              <a:t>Contrastive Loss</a:t>
            </a:r>
            <a:endParaRPr dirty="0"/>
          </a:p>
        </p:txBody>
      </p:sp>
      <p:sp>
        <p:nvSpPr>
          <p:cNvPr id="3" name="Google Shape;210;p17">
            <a:extLst>
              <a:ext uri="{FF2B5EF4-FFF2-40B4-BE49-F238E27FC236}">
                <a16:creationId xmlns:a16="http://schemas.microsoft.com/office/drawing/2014/main" id="{713248FF-628B-D91F-0E2D-41B3A2E01A22}"/>
              </a:ext>
            </a:extLst>
          </p:cNvPr>
          <p:cNvSpPr txBox="1"/>
          <p:nvPr/>
        </p:nvSpPr>
        <p:spPr>
          <a:xfrm>
            <a:off x="890337" y="1643896"/>
            <a:ext cx="10016362" cy="25545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chemeClr val="dk1"/>
                </a:solidFill>
                <a:latin typeface="Quicksand" pitchFamily="2" charset="77"/>
                <a:ea typeface="Calibri"/>
                <a:cs typeface="Calibri"/>
                <a:sym typeface="Calibri"/>
              </a:rPr>
              <a:t>The goal here is *not* prediction. The goal is to train a model that can encode inputs into numeric vector representations in a shared embedding space, such that ‘similar’ vectors are conceptually related, and ‘dissimilar’ vectors are conceptually unrelated.</a:t>
            </a:r>
          </a:p>
          <a:p>
            <a:pPr marL="0" marR="0" lvl="0" indent="0" algn="l" rtl="0">
              <a:spcBef>
                <a:spcPts val="0"/>
              </a:spcBef>
              <a:spcAft>
                <a:spcPts val="0"/>
              </a:spcAft>
              <a:buNone/>
            </a:pPr>
            <a:endParaRPr lang="en-US" sz="2000" dirty="0">
              <a:solidFill>
                <a:schemeClr val="dk1"/>
              </a:solidFill>
              <a:latin typeface="Quicksand" pitchFamily="2" charset="77"/>
              <a:ea typeface="Calibri"/>
              <a:cs typeface="Calibri"/>
              <a:sym typeface="Calibri"/>
            </a:endParaRPr>
          </a:p>
          <a:p>
            <a:pPr marL="0" marR="0" lvl="0" indent="0" algn="l" rtl="0">
              <a:spcBef>
                <a:spcPts val="0"/>
              </a:spcBef>
              <a:spcAft>
                <a:spcPts val="0"/>
              </a:spcAft>
              <a:buNone/>
            </a:pPr>
            <a:r>
              <a:rPr lang="en-US" sz="2000" dirty="0">
                <a:solidFill>
                  <a:schemeClr val="dk1"/>
                </a:solidFill>
                <a:latin typeface="Quicksand" pitchFamily="2" charset="77"/>
                <a:ea typeface="Calibri"/>
                <a:cs typeface="Calibri"/>
                <a:sym typeface="Calibri"/>
              </a:rPr>
              <a:t>We have a special loss function that we minimize for this purpose, where it is once again a 2-part loss, depending on whether the ‘pair’ of inputs is positive (related) or negative (unrelated). </a:t>
            </a:r>
            <a:endParaRPr sz="1800" dirty="0">
              <a:solidFill>
                <a:schemeClr val="dk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2D822D1A-5720-70B9-B62E-CF02077BA660}"/>
              </a:ext>
            </a:extLst>
          </p:cNvPr>
          <p:cNvPicPr>
            <a:picLocks noChangeAspect="1"/>
          </p:cNvPicPr>
          <p:nvPr/>
        </p:nvPicPr>
        <p:blipFill>
          <a:blip r:embed="rId3"/>
          <a:stretch>
            <a:fillRect/>
          </a:stretch>
        </p:blipFill>
        <p:spPr>
          <a:xfrm>
            <a:off x="3987210" y="4609146"/>
            <a:ext cx="4817860" cy="812651"/>
          </a:xfrm>
          <a:prstGeom prst="rect">
            <a:avLst/>
          </a:prstGeom>
        </p:spPr>
      </p:pic>
    </p:spTree>
    <p:extLst>
      <p:ext uri="{BB962C8B-B14F-4D97-AF65-F5344CB8AC3E}">
        <p14:creationId xmlns:p14="http://schemas.microsoft.com/office/powerpoint/2010/main" val="2222053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2"/>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RNN for Audio</a:t>
            </a:r>
            <a:endParaRPr sz="1400" b="0" i="0" u="none" strike="noStrike" cap="none">
              <a:solidFill>
                <a:srgbClr val="000000"/>
              </a:solidFill>
              <a:latin typeface="Arial"/>
              <a:ea typeface="Arial"/>
              <a:cs typeface="Arial"/>
              <a:sym typeface="Arial"/>
            </a:endParaRPr>
          </a:p>
        </p:txBody>
      </p:sp>
      <p:sp>
        <p:nvSpPr>
          <p:cNvPr id="225" name="Google Shape;225;p12"/>
          <p:cNvSpPr txBox="1"/>
          <p:nvPr/>
        </p:nvSpPr>
        <p:spPr>
          <a:xfrm>
            <a:off x="772620" y="1950155"/>
            <a:ext cx="10093751" cy="16312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Same Sequence Concepts Work for Audio Data</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Audio files are just sequences of numeric values (amplitude), possibly two if it was recorded in stereo.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Once we recognize this, we realize we can predict things about audio sequences too!</a:t>
            </a:r>
            <a:endParaRPr sz="1400" b="0" i="0" u="none" strike="noStrike" cap="none">
              <a:solidFill>
                <a:srgbClr val="000000"/>
              </a:solidFill>
              <a:latin typeface="Arial"/>
              <a:ea typeface="Arial"/>
              <a:cs typeface="Arial"/>
              <a:sym typeface="Arial"/>
            </a:endParaRPr>
          </a:p>
          <a:p>
            <a:pPr marL="342900" marR="0" lvl="0" indent="-215900" algn="l" rtl="0">
              <a:lnSpc>
                <a:spcPct val="100000"/>
              </a:lnSpc>
              <a:spcBef>
                <a:spcPts val="0"/>
              </a:spcBef>
              <a:spcAft>
                <a:spcPts val="0"/>
              </a:spcAft>
              <a:buClr>
                <a:schemeClr val="dk1"/>
              </a:buClr>
              <a:buSzPts val="2000"/>
              <a:buFont typeface="Arial"/>
              <a:buNone/>
            </a:pPr>
            <a:endParaRPr sz="2000" b="0" i="0" u="none" strike="noStrike" cap="none">
              <a:solidFill>
                <a:schemeClr val="dk1"/>
              </a:solidFill>
              <a:latin typeface="Quicksand"/>
              <a:ea typeface="Quicksand"/>
              <a:cs typeface="Quicksand"/>
              <a:sym typeface="Quicksand"/>
            </a:endParaRPr>
          </a:p>
        </p:txBody>
      </p:sp>
      <p:pic>
        <p:nvPicPr>
          <p:cNvPr id="226" name="Google Shape;226;p12"/>
          <p:cNvPicPr preferRelativeResize="0"/>
          <p:nvPr/>
        </p:nvPicPr>
        <p:blipFill rotWithShape="1">
          <a:blip r:embed="rId3">
            <a:alphaModFix/>
          </a:blip>
          <a:srcRect/>
          <a:stretch/>
        </p:blipFill>
        <p:spPr>
          <a:xfrm>
            <a:off x="4337050" y="3429000"/>
            <a:ext cx="3517900" cy="2286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3"/>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CNN-RNN for Video</a:t>
            </a:r>
            <a:endParaRPr sz="1400" b="0" i="0" u="none" strike="noStrike" cap="none">
              <a:solidFill>
                <a:srgbClr val="000000"/>
              </a:solidFill>
              <a:latin typeface="Arial"/>
              <a:ea typeface="Arial"/>
              <a:cs typeface="Arial"/>
              <a:sym typeface="Arial"/>
            </a:endParaRPr>
          </a:p>
        </p:txBody>
      </p:sp>
      <p:sp>
        <p:nvSpPr>
          <p:cNvPr id="233" name="Google Shape;233;p13"/>
          <p:cNvSpPr txBox="1"/>
          <p:nvPr/>
        </p:nvSpPr>
        <p:spPr>
          <a:xfrm>
            <a:off x="772620" y="1950155"/>
            <a:ext cx="10093751" cy="22467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Hybrid Topology for Image Sequences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We Use CNN’s to detect features at a given input.</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We feed those feature maps into an RNN architecture, like LSTM.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We can use this topology to predict things about videos.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You might pre-process frames using a pre-trained CNN and pass feature maps as sequences to an RNN.</a:t>
            </a:r>
            <a:endParaRPr sz="1400" b="0" i="0" u="none" strike="noStrike" cap="none">
              <a:solidFill>
                <a:srgbClr val="000000"/>
              </a:solidFill>
              <a:latin typeface="Arial"/>
              <a:ea typeface="Arial"/>
              <a:cs typeface="Arial"/>
              <a:sym typeface="Arial"/>
            </a:endParaRPr>
          </a:p>
          <a:p>
            <a:pPr marL="342900" marR="0" lvl="0" indent="-215900" algn="l" rtl="0">
              <a:lnSpc>
                <a:spcPct val="100000"/>
              </a:lnSpc>
              <a:spcBef>
                <a:spcPts val="0"/>
              </a:spcBef>
              <a:spcAft>
                <a:spcPts val="0"/>
              </a:spcAft>
              <a:buClr>
                <a:schemeClr val="dk1"/>
              </a:buClr>
              <a:buSzPts val="2000"/>
              <a:buFont typeface="Arial"/>
              <a:buNone/>
            </a:pPr>
            <a:endParaRPr sz="2000" b="0" i="0" u="none" strike="noStrike" cap="none">
              <a:solidFill>
                <a:schemeClr val="dk1"/>
              </a:solidFill>
              <a:latin typeface="Quicksand"/>
              <a:ea typeface="Quicksand"/>
              <a:cs typeface="Quicksand"/>
              <a:sym typeface="Quicksand"/>
            </a:endParaRPr>
          </a:p>
        </p:txBody>
      </p:sp>
      <p:pic>
        <p:nvPicPr>
          <p:cNvPr id="234" name="Google Shape;234;p13" descr="Introduction to Video Classification and Human Activity Recognition"/>
          <p:cNvPicPr preferRelativeResize="0"/>
          <p:nvPr/>
        </p:nvPicPr>
        <p:blipFill rotWithShape="1">
          <a:blip r:embed="rId3">
            <a:alphaModFix/>
          </a:blip>
          <a:srcRect/>
          <a:stretch/>
        </p:blipFill>
        <p:spPr>
          <a:xfrm>
            <a:off x="3531000" y="3770489"/>
            <a:ext cx="5130000" cy="283686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7"/>
          <p:cNvSpPr txBox="1"/>
          <p:nvPr/>
        </p:nvSpPr>
        <p:spPr>
          <a:xfrm>
            <a:off x="1750621" y="2828835"/>
            <a:ext cx="8690758"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7200"/>
              <a:buFont typeface="Arial"/>
              <a:buNone/>
            </a:pPr>
            <a:r>
              <a:rPr lang="en-US" sz="7200" b="0" i="0" u="none" strike="noStrike" cap="none">
                <a:solidFill>
                  <a:schemeClr val="dk1"/>
                </a:solidFill>
                <a:latin typeface="Economica"/>
                <a:ea typeface="Economica"/>
                <a:cs typeface="Economica"/>
                <a:sym typeface="Economica"/>
              </a:rPr>
              <a:t>Questions?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179</TotalTime>
  <Words>2596</Words>
  <Application>Microsoft Macintosh PowerPoint</Application>
  <PresentationFormat>Widescreen</PresentationFormat>
  <Paragraphs>244</Paragraphs>
  <Slides>26</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Calibri</vt:lpstr>
      <vt:lpstr>Economica</vt:lpstr>
      <vt:lpstr>Quicksand</vt:lpstr>
      <vt:lpstr>Arial</vt:lpstr>
      <vt:lpstr>Consolas</vt:lpstr>
      <vt:lpstr>Office Theme</vt:lpstr>
      <vt:lpstr>PowerPoint Presentation</vt:lpstr>
      <vt:lpstr>PowerPoint Presentation</vt:lpstr>
      <vt:lpstr>PowerPoint Presentation</vt:lpstr>
      <vt:lpstr>Weighting Term-Documents: TF-IDF</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Gordon Burtch</dc:creator>
  <cp:lastModifiedBy>Burtch, Gordon</cp:lastModifiedBy>
  <cp:revision>19</cp:revision>
  <dcterms:created xsi:type="dcterms:W3CDTF">2019-12-28T13:51:56Z</dcterms:created>
  <dcterms:modified xsi:type="dcterms:W3CDTF">2026-04-03T17:25:53Z</dcterms:modified>
</cp:coreProperties>
</file>